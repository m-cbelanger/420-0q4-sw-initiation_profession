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5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23" r:id="rId2"/>
  </p:sldMasterIdLst>
  <p:notesMasterIdLst>
    <p:notesMasterId r:id="rId34"/>
  </p:notesMasterIdLst>
  <p:sldIdLst>
    <p:sldId id="256" r:id="rId3"/>
    <p:sldId id="260" r:id="rId4"/>
    <p:sldId id="266" r:id="rId5"/>
    <p:sldId id="261" r:id="rId6"/>
    <p:sldId id="297" r:id="rId7"/>
    <p:sldId id="262" r:id="rId8"/>
    <p:sldId id="308" r:id="rId9"/>
    <p:sldId id="293" r:id="rId10"/>
    <p:sldId id="299" r:id="rId11"/>
    <p:sldId id="300" r:id="rId12"/>
    <p:sldId id="295" r:id="rId13"/>
    <p:sldId id="296" r:id="rId14"/>
    <p:sldId id="322" r:id="rId15"/>
    <p:sldId id="323" r:id="rId16"/>
    <p:sldId id="294" r:id="rId17"/>
    <p:sldId id="302" r:id="rId18"/>
    <p:sldId id="301" r:id="rId19"/>
    <p:sldId id="264" r:id="rId20"/>
    <p:sldId id="306" r:id="rId21"/>
    <p:sldId id="307" r:id="rId22"/>
    <p:sldId id="303" r:id="rId23"/>
    <p:sldId id="304" r:id="rId24"/>
    <p:sldId id="310" r:id="rId25"/>
    <p:sldId id="311" r:id="rId26"/>
    <p:sldId id="305" r:id="rId27"/>
    <p:sldId id="312" r:id="rId28"/>
    <p:sldId id="313" r:id="rId29"/>
    <p:sldId id="324" r:id="rId30"/>
    <p:sldId id="325" r:id="rId31"/>
    <p:sldId id="327" r:id="rId32"/>
    <p:sldId id="32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A4677EA-FB87-4D5F-8AC3-580FAA002BA8}">
          <p14:sldIdLst>
            <p14:sldId id="256"/>
            <p14:sldId id="260"/>
          </p14:sldIdLst>
        </p14:section>
        <p14:section name="Microsoft Excel" id="{743BD416-0936-4B24-80E4-4B193482E70B}">
          <p14:sldIdLst>
            <p14:sldId id="266"/>
            <p14:sldId id="261"/>
            <p14:sldId id="297"/>
            <p14:sldId id="262"/>
            <p14:sldId id="308"/>
            <p14:sldId id="293"/>
            <p14:sldId id="299"/>
            <p14:sldId id="300"/>
            <p14:sldId id="295"/>
            <p14:sldId id="296"/>
            <p14:sldId id="322"/>
            <p14:sldId id="323"/>
          </p14:sldIdLst>
        </p14:section>
        <p14:section name="Formules" id="{885D6EF1-50E3-4DD3-ABB5-A7904ADD22A6}">
          <p14:sldIdLst>
            <p14:sldId id="294"/>
            <p14:sldId id="302"/>
            <p14:sldId id="301"/>
            <p14:sldId id="264"/>
            <p14:sldId id="306"/>
            <p14:sldId id="307"/>
            <p14:sldId id="303"/>
            <p14:sldId id="304"/>
            <p14:sldId id="310"/>
            <p14:sldId id="311"/>
            <p14:sldId id="305"/>
            <p14:sldId id="312"/>
            <p14:sldId id="313"/>
            <p14:sldId id="324"/>
            <p14:sldId id="325"/>
            <p14:sldId id="327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2688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outlineViewPr>
    <p:cViewPr>
      <p:scale>
        <a:sx n="33" d="100"/>
        <a:sy n="33" d="100"/>
      </p:scale>
      <p:origin x="0" y="-29669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276D2-1F36-4BEE-80DF-1BB6F524DC0F}" type="datetimeFigureOut">
              <a:rPr lang="fr-CA" smtClean="0"/>
              <a:t>2026-09-23</a:t>
            </a:fld>
            <a:endParaRPr lang="fr-CA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613A6-F68C-4E34-BBCD-0DFF113067E9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121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11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75408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13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05874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15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95691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20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5383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27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7740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5">
            <a:extLst>
              <a:ext uri="{FF2B5EF4-FFF2-40B4-BE49-F238E27FC236}">
                <a16:creationId xmlns:a16="http://schemas.microsoft.com/office/drawing/2014/main" id="{E19DAF5E-AAB2-0964-3DA8-35E105736CD2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B8E693DF-3A26-0611-B198-8512C7A3AB61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B7492A-D672-7A4D-64E0-D1DBC304F49A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2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7111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5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468030"/>
            <a:ext cx="7891272" cy="99093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  <p:pic>
        <p:nvPicPr>
          <p:cNvPr id="13" name="Image 12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BFB79C64-B64E-92FE-45AE-59ABE7F8EF3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5984"/>
          <a:stretch/>
        </p:blipFill>
        <p:spPr>
          <a:xfrm>
            <a:off x="8497124" y="2961718"/>
            <a:ext cx="2232995" cy="1113206"/>
          </a:xfrm>
          <a:prstGeom prst="rect">
            <a:avLst/>
          </a:prstGeom>
        </p:spPr>
      </p:pic>
      <p:pic>
        <p:nvPicPr>
          <p:cNvPr id="15" name="Image 14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BED793FA-8DD3-5429-AC7E-2D5EBB988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2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1268082"/>
            <a:ext cx="11683789" cy="4904117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9271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98210"/>
            <a:ext cx="6819565" cy="988645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D8DAE4A-0E2A-8F00-271B-AF116512FE5E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52710EB3-B158-B707-09DC-10D745FF2F7A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3DEF09-FE87-E26A-6F8D-0BED760E793C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6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pic>
        <p:nvPicPr>
          <p:cNvPr id="19" name="Image 18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C489B5D8-4DDA-5174-FC5B-CC6B6DE6E4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8119"/>
          <a:stretch/>
        </p:blipFill>
        <p:spPr>
          <a:xfrm>
            <a:off x="9004981" y="5063086"/>
            <a:ext cx="2232995" cy="1064602"/>
          </a:xfrm>
          <a:prstGeom prst="rect">
            <a:avLst/>
          </a:prstGeom>
        </p:spPr>
      </p:pic>
      <p:pic>
        <p:nvPicPr>
          <p:cNvPr id="20" name="Image 19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4813944F-6589-2EFC-65D3-F8E24FA68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4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1273776"/>
            <a:ext cx="5641675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73776"/>
            <a:ext cx="585520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9755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8" y="1290684"/>
            <a:ext cx="5676182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2027037"/>
            <a:ext cx="5702807" cy="414947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9313" y="1290684"/>
            <a:ext cx="5841895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9313" y="2027035"/>
            <a:ext cx="5841894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9113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1374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0903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345058"/>
            <a:ext cx="3200400" cy="1138686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345057"/>
            <a:ext cx="7840262" cy="588462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526847"/>
            <a:ext cx="3200400" cy="4188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4495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220092"/>
            <a:ext cx="3200400" cy="106007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323265"/>
            <a:ext cx="3200400" cy="43917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32352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070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2686" y="220091"/>
            <a:ext cx="1668521" cy="5952109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419" y="220091"/>
            <a:ext cx="10015267" cy="5952109"/>
          </a:xfrm>
        </p:spPr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53450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1273776"/>
            <a:ext cx="5641675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73776"/>
            <a:ext cx="585520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8847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1268082"/>
            <a:ext cx="11683789" cy="4904117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9031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98210"/>
            <a:ext cx="6819565" cy="988645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D8DAE4A-0E2A-8F00-271B-AF116512FE5E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52710EB3-B158-B707-09DC-10D745FF2F7A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3DEF09-FE87-E26A-6F8D-0BED760E793C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6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pic>
        <p:nvPicPr>
          <p:cNvPr id="19" name="Image 18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C489B5D8-4DDA-5174-FC5B-CC6B6DE6E4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8119"/>
          <a:stretch/>
        </p:blipFill>
        <p:spPr>
          <a:xfrm>
            <a:off x="9004981" y="5063086"/>
            <a:ext cx="2232995" cy="1064602"/>
          </a:xfrm>
          <a:prstGeom prst="rect">
            <a:avLst/>
          </a:prstGeom>
        </p:spPr>
      </p:pic>
      <p:pic>
        <p:nvPicPr>
          <p:cNvPr id="20" name="Image 19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4813944F-6589-2EFC-65D3-F8E24FA68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9" y="1285336"/>
            <a:ext cx="11683789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628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9" y="1285336"/>
            <a:ext cx="11683789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745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 cap="all" baseline="0"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0.xml"/><Relationship Id="rId7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12.png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tags" Target="../tags/tag34.xml"/><Relationship Id="rId7" Type="http://schemas.openxmlformats.org/officeDocument/2006/relationships/image" Target="../media/image13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image" Target="../media/image15.jpg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image" Target="../media/image20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9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18.png"/><Relationship Id="rId5" Type="http://schemas.openxmlformats.org/officeDocument/2006/relationships/tags" Target="../tags/tag62.xml"/><Relationship Id="rId10" Type="http://schemas.openxmlformats.org/officeDocument/2006/relationships/image" Target="../media/image17.gif"/><Relationship Id="rId4" Type="http://schemas.openxmlformats.org/officeDocument/2006/relationships/tags" Target="../tags/tag6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22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8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26.jpe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hyperlink" Target="https://www.excel-easy.com/introduction/formulas-functions.html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image" Target="../media/image27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7" Type="http://schemas.openxmlformats.org/officeDocument/2006/relationships/image" Target="../media/image28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0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29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1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7" Type="http://schemas.openxmlformats.org/officeDocument/2006/relationships/image" Target="../media/image33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fr-fr/office/fractionner-du-texte-en-plusieurs-colonnes-en-utilisant-des-fonctions-49ec57f9-3d5a-44b2-82da-50dded6e4a68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fr-fr/office/fonctions-excel-par-cat%C3%A9gorie-5f91f4e9-7b42-46d2-9bd1-63f26a86c0eb?utm_source=chatgpt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329C3-20B8-5921-8BF1-6B1A4DD310F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Initiation à la profession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123608-6A5A-EC06-7525-69C59E2A6781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420-0Q4-SW</a:t>
            </a:r>
          </a:p>
          <a:p>
            <a:r>
              <a:rPr lang="fr-CA" b="1" dirty="0"/>
              <a:t>Tableurs (Excel, partie 1)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275C57B-0B63-31D8-63FF-AD37F431CA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9370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FC65F95-8A7F-68EB-ABE4-D5192DAEF0E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Tableurs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7B0FAD4-F9D3-8120-61F3-0E8EB6A86BD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dirty="0"/>
              <a:t>Initialement surtout utilisé en comptabilité, finance et statistique.</a:t>
            </a:r>
          </a:p>
          <a:p>
            <a:r>
              <a:rPr lang="fr-FR" dirty="0"/>
              <a:t>Ces outils puissants sont maintenant accessibles à tous pour manipuler des données en tout genre.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Permet de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Stocker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Organiser</a:t>
            </a:r>
            <a:r>
              <a:rPr lang="fr-F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Analyser</a:t>
            </a:r>
            <a:r>
              <a:rPr lang="fr-FR" dirty="0"/>
              <a:t> des données sous forme de 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Rend facile la manipulation des données par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l’utilisation de </a:t>
            </a:r>
            <a:r>
              <a:rPr lang="fr-FR" b="1" dirty="0"/>
              <a:t>formules et fonctions </a:t>
            </a:r>
            <a:r>
              <a:rPr lang="fr-FR" dirty="0"/>
              <a:t>mises à jour en temps réel.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Lorsque les valeurs changent, le résultat est recalculé automatiquement.</a:t>
            </a:r>
          </a:p>
          <a:p>
            <a:endParaRPr lang="fr-CA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E35D746-91CD-875B-BF76-516F04E287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</a:t>
            </a:fld>
            <a:endParaRPr lang="fr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4A5F86-2785-172E-350B-90683ED4385B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9046710" y="2344848"/>
            <a:ext cx="2719703" cy="346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65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icrosoft Excel logo and icon, Microsoft Excel brand colors ...">
            <a:extLst>
              <a:ext uri="{FF2B5EF4-FFF2-40B4-BE49-F238E27FC236}">
                <a16:creationId xmlns:a16="http://schemas.microsoft.com/office/drawing/2014/main" id="{1CC2B5FB-EB4F-2017-EA51-149710102314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2" t="18269" r="22653" b="20303"/>
          <a:stretch/>
        </p:blipFill>
        <p:spPr bwMode="auto">
          <a:xfrm>
            <a:off x="8847921" y="1225296"/>
            <a:ext cx="1957451" cy="167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EFE39E12-273A-3D98-54BA-848C7517FBE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Introduction </a:t>
            </a:r>
            <a:br>
              <a:rPr lang="fr-CA" dirty="0"/>
            </a:br>
            <a:r>
              <a:rPr lang="fr-CA" dirty="0"/>
              <a:t>à Microsoft Excel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54B15E2-6FD7-C75B-38B3-921D61FB45C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Tableurs de la suite Microsoft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CECA36-C4D1-B549-297D-BD9025DC8F7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3</a:t>
            </a:fld>
            <a:endParaRPr lang="fr-C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D0162E4-2D12-F579-952D-F92FF46EE276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26" y="2246798"/>
            <a:ext cx="1504795" cy="147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9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831CB46-407F-5ECA-56E3-2E914D12A4A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Excel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77B2BBD-F3DE-3207-3DE3-F18E66DB9AF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Cellules personnalisables</a:t>
            </a:r>
          </a:p>
          <a:p>
            <a:endParaRPr lang="fr-CA" dirty="0"/>
          </a:p>
          <a:p>
            <a:r>
              <a:rPr lang="fr-CA" dirty="0"/>
              <a:t>Formules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=(</a:t>
            </a:r>
            <a:r>
              <a:rPr lang="fr-CA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fr-CA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)*</a:t>
            </a:r>
            <a:r>
              <a:rPr lang="fr-CA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fr-CA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endParaRPr lang="fr-CA" dirty="0"/>
          </a:p>
          <a:p>
            <a:pPr lvl="1"/>
            <a:r>
              <a:rPr lang="fr-CA" dirty="0"/>
              <a:t>Permet d’appliquer des opérations mathématiques et traitements à nos données</a:t>
            </a:r>
          </a:p>
          <a:p>
            <a:pPr lvl="1"/>
            <a:r>
              <a:rPr lang="fr-CA" dirty="0"/>
              <a:t>*Priorité des opérations</a:t>
            </a:r>
          </a:p>
          <a:p>
            <a:endParaRPr lang="fr-CA" dirty="0"/>
          </a:p>
          <a:p>
            <a:r>
              <a:rPr lang="fr-CA" dirty="0"/>
              <a:t>Fonctions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=SI(</a:t>
            </a:r>
            <a:r>
              <a:rPr lang="fr-CA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=0;</a:t>
            </a:r>
            <a:r>
              <a:rPr lang="fr-CA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fr-CA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CA" dirty="0"/>
          </a:p>
          <a:p>
            <a:pPr lvl="1"/>
            <a:r>
              <a:rPr lang="fr-CA" dirty="0"/>
              <a:t>Formules intégrées à Excel</a:t>
            </a:r>
          </a:p>
          <a:p>
            <a:endParaRPr lang="fr-CA" dirty="0"/>
          </a:p>
          <a:p>
            <a:r>
              <a:rPr lang="fr-CA" dirty="0"/>
              <a:t>Diagrammes</a:t>
            </a:r>
          </a:p>
          <a:p>
            <a:pPr lvl="1"/>
            <a:r>
              <a:rPr lang="fr-CA" dirty="0"/>
              <a:t>Représentation graphique des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C24480-6EEF-5484-0550-BC5087B6810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4</a:t>
            </a:fld>
            <a:endParaRPr lang="fr-CA" dirty="0"/>
          </a:p>
        </p:txBody>
      </p:sp>
      <p:pic>
        <p:nvPicPr>
          <p:cNvPr id="2050" name="Picture 2" descr="Excel - 1 Basique - Cours Graphique simple - histogramme - YouTube">
            <a:extLst>
              <a:ext uri="{FF2B5EF4-FFF2-40B4-BE49-F238E27FC236}">
                <a16:creationId xmlns:a16="http://schemas.microsoft.com/office/drawing/2014/main" id="{B433C336-583B-E771-CA03-9D38CA3339DA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24" y="3318205"/>
            <a:ext cx="403860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12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32292-2BC1-8FE5-70AC-7B8CA6175B9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Éléments visuels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8465109-B13D-A2A1-5270-449BD5A05C8E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338" y="1447634"/>
            <a:ext cx="7911324" cy="43345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4D525C-C011-1DD5-0630-9B5C64153D2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5</a:t>
            </a:fld>
            <a:endParaRPr lang="fr-CA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97C7E56-B298-9269-BDE2-9A5665C80F1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24534" y="685800"/>
            <a:ext cx="56840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Barre de formule / valeur de la cellule active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78A5892B-CC19-A7C2-CD56-5C4D7BC08FF8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983" y="1981870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Zone de nom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23834ED2-69CB-48F0-ED78-4A2D7FDBBE3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59136" y="4730680"/>
            <a:ext cx="194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Onglets de feuille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70071034-1E3F-19E9-C9B7-25A530CEB2F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98311" y="5902938"/>
            <a:ext cx="1357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Barre d'état</a:t>
            </a: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D185D098-0B57-F357-27CA-991FF47A909D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683333" y="2280989"/>
            <a:ext cx="552873" cy="5582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D8289ACD-C78E-EBA3-3B55-E6E8CB393DF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4418091" y="1055132"/>
            <a:ext cx="2706986" cy="18974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F1C5CABA-AB22-F86B-AA7E-D4618446A899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3416252" y="5015053"/>
            <a:ext cx="695284" cy="3813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3A150596-B414-D95C-E165-CA4BDDC847C2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 flipV="1">
            <a:off x="6642807" y="5714565"/>
            <a:ext cx="2139054" cy="2254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463511A3-6117-9D97-94F9-FC1628938404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502287" y="3565799"/>
            <a:ext cx="35013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Cellule active (sélectionnée)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203E8C72-D74B-A303-3DAD-17F9072EB9D3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 flipV="1">
            <a:off x="3063090" y="3458205"/>
            <a:ext cx="436979" cy="1075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4824A710-36BA-A0DD-8158-4C3B1C41E84D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289449" y="5940040"/>
            <a:ext cx="27161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Bouton Nouvelle feuille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7489D20D-E3E2-D831-E4BF-803E9748EEFD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H="1" flipV="1">
            <a:off x="3893690" y="5570702"/>
            <a:ext cx="753833" cy="369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4162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D58D1E-85B3-BE3F-F699-09180050CB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cellule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B36FEA-77E0-D1F3-DBDF-BDDFB45CA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Grille</a:t>
            </a:r>
          </a:p>
          <a:p>
            <a:pPr lvl="1"/>
            <a:r>
              <a:rPr lang="fr-CA" dirty="0"/>
              <a:t>Colonnes </a:t>
            </a:r>
            <a:r>
              <a:rPr lang="fr-CA" dirty="0">
                <a:sym typeface="Wingdings" panose="05000000000000000000" pitchFamily="2" charset="2"/>
              </a:rPr>
              <a:t> Lettres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Lignes  Nombres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Cellule  Combinaison de l’intersection</a:t>
            </a:r>
          </a:p>
          <a:p>
            <a:pPr lvl="1"/>
            <a:r>
              <a:rPr lang="fr-CA" dirty="0">
                <a:solidFill>
                  <a:schemeClr val="accent1"/>
                </a:solidFill>
                <a:sym typeface="Wingdings" panose="05000000000000000000" pitchFamily="2" charset="2"/>
              </a:rPr>
              <a:t>Colonne = A</a:t>
            </a:r>
          </a:p>
          <a:p>
            <a:pPr lvl="1"/>
            <a:r>
              <a:rPr lang="fr-CA" dirty="0">
                <a:solidFill>
                  <a:srgbClr val="FF0000"/>
                </a:solidFill>
                <a:sym typeface="Wingdings" panose="05000000000000000000" pitchFamily="2" charset="2"/>
              </a:rPr>
              <a:t>Ligne = 3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Cellule = </a:t>
            </a:r>
            <a:r>
              <a:rPr lang="fr-CA" dirty="0">
                <a:solidFill>
                  <a:schemeClr val="accent1"/>
                </a:solidFill>
                <a:sym typeface="Wingdings" panose="05000000000000000000" pitchFamily="2" charset="2"/>
              </a:rPr>
              <a:t>A</a:t>
            </a:r>
            <a:r>
              <a:rPr lang="fr-CA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F3840AB-545E-DD43-F21B-921ADEFE911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6</a:t>
            </a:fld>
            <a:endParaRPr lang="fr-CA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4C7AAE2-FD52-3E70-C9E2-909F809581C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883522" y="514064"/>
            <a:ext cx="5554290" cy="3208909"/>
            <a:chOff x="6001217" y="220091"/>
            <a:chExt cx="5554290" cy="3208909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19D1A95E-2942-27C0-F565-AEB0B181B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0549" y="614265"/>
              <a:ext cx="5184958" cy="2741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AB0040-E894-391D-E03F-266B54B2D9AF}"/>
                </a:ext>
              </a:extLst>
            </p:cNvPr>
            <p:cNvSpPr/>
            <p:nvPr/>
          </p:nvSpPr>
          <p:spPr>
            <a:xfrm>
              <a:off x="6370549" y="878186"/>
              <a:ext cx="310908" cy="25508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E5BD75C7-2F02-063A-8785-010395203374}"/>
                </a:ext>
              </a:extLst>
            </p:cNvPr>
            <p:cNvSpPr txBox="1"/>
            <p:nvPr/>
          </p:nvSpPr>
          <p:spPr>
            <a:xfrm rot="16200000">
              <a:off x="5721653" y="1917760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Lignes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ED2ADB-9DE9-0364-0FB1-CB88353457C7}"/>
                </a:ext>
              </a:extLst>
            </p:cNvPr>
            <p:cNvSpPr/>
            <p:nvPr/>
          </p:nvSpPr>
          <p:spPr>
            <a:xfrm>
              <a:off x="6681457" y="614265"/>
              <a:ext cx="4874050" cy="26392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>
                <a:solidFill>
                  <a:schemeClr val="accent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2A4DC4A-6A26-2EC9-48A0-D56F28742CD6}"/>
                </a:ext>
              </a:extLst>
            </p:cNvPr>
            <p:cNvSpPr txBox="1"/>
            <p:nvPr/>
          </p:nvSpPr>
          <p:spPr>
            <a:xfrm>
              <a:off x="8344910" y="220091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Colonnes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553F46A-98B8-2975-F071-8F9C1D1363D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787749" y="4152550"/>
            <a:ext cx="4930209" cy="1797212"/>
            <a:chOff x="3992578" y="4010685"/>
            <a:chExt cx="4930209" cy="1797212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4927B5D7-543D-2811-C0AA-DD611CCBF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4736" y="4087276"/>
              <a:ext cx="4718051" cy="1720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237E1CF5-4CA2-398A-E35D-226E86FDF1C8}"/>
                </a:ext>
              </a:extLst>
            </p:cNvPr>
            <p:cNvSpPr/>
            <p:nvPr/>
          </p:nvSpPr>
          <p:spPr>
            <a:xfrm>
              <a:off x="3992578" y="4010685"/>
              <a:ext cx="1620571" cy="64279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39855791-11DD-62AE-844E-7574834EB155}"/>
                </a:ext>
              </a:extLst>
            </p:cNvPr>
            <p:cNvCxnSpPr>
              <a:stCxn id="13" idx="4"/>
            </p:cNvCxnSpPr>
            <p:nvPr/>
          </p:nvCxnSpPr>
          <p:spPr>
            <a:xfrm>
              <a:off x="4802864" y="4653481"/>
              <a:ext cx="13580" cy="5703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818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B13CE5-108E-E205-051B-0A9D1D00CE4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Options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D9AAE-CC15-71C9-D15E-EA6E7308E65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Mise en forme des valeurs</a:t>
            </a:r>
          </a:p>
          <a:p>
            <a:pPr lvl="1"/>
            <a:r>
              <a:rPr lang="fr-CA" dirty="0"/>
              <a:t>Type de valeur</a:t>
            </a:r>
          </a:p>
          <a:p>
            <a:pPr lvl="1"/>
            <a:r>
              <a:rPr lang="fr-CA" dirty="0"/>
              <a:t>Format de police </a:t>
            </a:r>
            <a:r>
              <a:rPr lang="fr-CA" dirty="0">
                <a:sym typeface="Wingdings" panose="05000000000000000000" pitchFamily="2" charset="2"/>
              </a:rPr>
              <a:t> Word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Taille de la colonne</a:t>
            </a:r>
          </a:p>
          <a:p>
            <a:pPr lvl="2"/>
            <a:r>
              <a:rPr lang="fr-CA" b="1" dirty="0">
                <a:solidFill>
                  <a:srgbClr val="FF0000"/>
                </a:solidFill>
                <a:sym typeface="Wingdings" panose="05000000000000000000" pitchFamily="2" charset="2"/>
              </a:rPr>
              <a:t>Éviter de « tronquer » une valeur </a:t>
            </a:r>
          </a:p>
          <a:p>
            <a:pPr lvl="3"/>
            <a:r>
              <a:rPr lang="fr-CA" dirty="0">
                <a:sym typeface="Wingdings" panose="05000000000000000000" pitchFamily="2" charset="2"/>
              </a:rPr>
              <a:t> une valeur numérique tronquée ne pourra pas s’afficher correctement et sera remplacé par #####</a:t>
            </a:r>
          </a:p>
          <a:p>
            <a:endParaRPr lang="fr-CA" b="1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Ajouter des couleurs / bordures</a:t>
            </a:r>
          </a:p>
          <a:p>
            <a:endParaRPr lang="fr-CA" dirty="0"/>
          </a:p>
          <a:p>
            <a:r>
              <a:rPr lang="fr-CA" dirty="0"/>
              <a:t>Feuilles </a:t>
            </a:r>
            <a:r>
              <a:rPr lang="fr-CA" dirty="0">
                <a:sym typeface="Wingdings" panose="05000000000000000000" pitchFamily="2" charset="2"/>
              </a:rPr>
              <a:t> Divisé les informations par « groupe » / éviter de surcharger une vue</a:t>
            </a:r>
            <a:endParaRPr lang="fr-CA" dirty="0"/>
          </a:p>
          <a:p>
            <a:endParaRPr lang="fr-CA" dirty="0">
              <a:sym typeface="Wingdings" panose="05000000000000000000" pitchFamily="2" charset="2"/>
            </a:endParaRPr>
          </a:p>
          <a:p>
            <a:endParaRPr lang="fr-CA" dirty="0">
              <a:sym typeface="Wingdings" panose="05000000000000000000" pitchFamily="2" charset="2"/>
            </a:endParaRP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FFCA9E-5DFB-336B-F3B8-3211356FB4F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7</a:t>
            </a:fld>
            <a:endParaRPr lang="fr-CA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82C33F1-6BB6-1312-FD4E-FE8025A4A49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634038" y="726937"/>
            <a:ext cx="4150568" cy="1708744"/>
            <a:chOff x="5916084" y="1075660"/>
            <a:chExt cx="4150568" cy="1708744"/>
          </a:xfrm>
        </p:grpSpPr>
        <p:pic>
          <p:nvPicPr>
            <p:cNvPr id="7" name="Espace réservé du contenu 2">
              <a:extLst>
                <a:ext uri="{FF2B5EF4-FFF2-40B4-BE49-F238E27FC236}">
                  <a16:creationId xmlns:a16="http://schemas.microsoft.com/office/drawing/2014/main" id="{22204391-4364-E39C-BB74-088BD8B9BA8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8480" y="1567498"/>
              <a:ext cx="1333500" cy="742950"/>
            </a:xfrm>
            <a:prstGeom prst="rect">
              <a:avLst/>
            </a:prstGeom>
          </p:spPr>
        </p:pic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F2555C3A-5761-D21D-E35B-28C16A967369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6985655" y="1979169"/>
              <a:ext cx="324100" cy="331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 dirty="0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0DEC0B96-315C-69D5-EEBF-AD70B96CFD6D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16084" y="2268612"/>
              <a:ext cx="142859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CA" sz="1400" dirty="0">
                  <a:latin typeface="Arial" panose="020B0604020202020204" pitchFamily="34" charset="0"/>
                  <a:cs typeface="Arial" panose="020B0604020202020204" pitchFamily="34" charset="0"/>
                </a:rPr>
                <a:t>Style monétaire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434E6C2E-789B-BA1A-ADCE-6231411E3BC8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7325630" y="1369569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 dirty="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1DD21012-43BC-0CC8-679E-2D9034CC2069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7935230" y="2131569"/>
              <a:ext cx="38100" cy="3629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 dirty="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A0DCF9C5-42B6-90FB-CE65-DB3AD5298653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439930" y="2476627"/>
              <a:ext cx="183575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CA" sz="1400" dirty="0">
                  <a:latin typeface="Arial" panose="020B0604020202020204" pitchFamily="34" charset="0"/>
                  <a:cs typeface="Arial" panose="020B0604020202020204" pitchFamily="34" charset="0"/>
                </a:rPr>
                <a:t>Séparateur de millier</a:t>
              </a: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50C0703A-F9A1-6E61-DE4D-8E9E90261EE4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8455930" y="1518991"/>
              <a:ext cx="228600" cy="3077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 dirty="0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8F1BDEA8-3C9C-BF9A-3464-45592ED8F961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087196" y="1250329"/>
              <a:ext cx="19794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fr-CA" sz="1400" dirty="0">
                  <a:latin typeface="Arial" panose="020B0604020202020204" pitchFamily="34" charset="0"/>
                  <a:cs typeface="Arial" panose="020B0604020202020204" pitchFamily="34" charset="0"/>
                </a:rPr>
                <a:t>Nombre de décimales</a:t>
              </a:r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1744C80D-730B-3133-42C5-F56CD6EAEDF3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68796" y="1075660"/>
              <a:ext cx="119936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CA" sz="1400" dirty="0">
                  <a:latin typeface="Arial" panose="020B0604020202020204" pitchFamily="34" charset="0"/>
                  <a:cs typeface="Arial" panose="020B0604020202020204" pitchFamily="34" charset="0"/>
                </a:rPr>
                <a:t>Pourcentage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34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4A49D7D-A702-2940-D16F-E3FBE3BE4B3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Saisie de données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BE2D196-2B3E-0649-D04A-633295693F5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sz="1800" dirty="0"/>
              <a:t>La cellule doit être active pour saisir une donnée</a:t>
            </a:r>
          </a:p>
          <a:p>
            <a:endParaRPr lang="fr-CA" sz="1800" dirty="0"/>
          </a:p>
          <a:p>
            <a:r>
              <a:rPr lang="fr-CA" sz="1800" dirty="0"/>
              <a:t>Une cellule peut contenir </a:t>
            </a:r>
            <a:r>
              <a:rPr lang="fr-CA" sz="1800" b="1" dirty="0"/>
              <a:t>deux types </a:t>
            </a:r>
            <a:r>
              <a:rPr lang="fr-CA" sz="1800" dirty="0"/>
              <a:t>de données : </a:t>
            </a:r>
          </a:p>
          <a:p>
            <a:pPr lvl="1"/>
            <a:r>
              <a:rPr lang="fr-CA" sz="1600" dirty="0"/>
              <a:t>une </a:t>
            </a:r>
            <a:r>
              <a:rPr lang="fr-CA" sz="1600" b="1" dirty="0">
                <a:solidFill>
                  <a:srgbClr val="FF0000"/>
                </a:solidFill>
              </a:rPr>
              <a:t>valeur</a:t>
            </a:r>
            <a:r>
              <a:rPr lang="fr-CA" sz="1600" dirty="0"/>
              <a:t> </a:t>
            </a:r>
          </a:p>
          <a:p>
            <a:pPr lvl="1"/>
            <a:r>
              <a:rPr lang="fr-CA" sz="1600" dirty="0"/>
              <a:t>une </a:t>
            </a:r>
            <a:r>
              <a:rPr lang="fr-CA" sz="1600" b="1" dirty="0">
                <a:solidFill>
                  <a:srgbClr val="FF0000"/>
                </a:solidFill>
              </a:rPr>
              <a:t>étiquette </a:t>
            </a:r>
            <a:r>
              <a:rPr lang="fr-CA" sz="1600" dirty="0"/>
              <a:t>(texte) </a:t>
            </a:r>
            <a:r>
              <a:rPr lang="fr-CA" sz="1600" dirty="0">
                <a:sym typeface="Wingdings" panose="05000000000000000000" pitchFamily="2" charset="2"/>
              </a:rPr>
              <a:t> * attention au texte tronqué *  option retour à la ligne</a:t>
            </a:r>
            <a:endParaRPr lang="fr-CA" sz="1600" dirty="0"/>
          </a:p>
          <a:p>
            <a:endParaRPr lang="fr-CA" sz="1800" b="1" dirty="0"/>
          </a:p>
          <a:p>
            <a:r>
              <a:rPr lang="fr-CA" sz="1800" dirty="0"/>
              <a:t>Une </a:t>
            </a:r>
            <a:r>
              <a:rPr lang="fr-CA" sz="1800" b="1" dirty="0"/>
              <a:t>valeur</a:t>
            </a:r>
            <a:r>
              <a:rPr lang="fr-CA" sz="1800" dirty="0"/>
              <a:t> peut être </a:t>
            </a:r>
          </a:p>
          <a:p>
            <a:pPr lvl="1"/>
            <a:r>
              <a:rPr lang="fr-CA" sz="1600" dirty="0"/>
              <a:t>un nombre</a:t>
            </a:r>
          </a:p>
          <a:p>
            <a:pPr lvl="1"/>
            <a:r>
              <a:rPr lang="fr-CA" sz="1600" dirty="0"/>
              <a:t>une formule</a:t>
            </a:r>
          </a:p>
          <a:p>
            <a:pPr lvl="1"/>
            <a:r>
              <a:rPr lang="fr-CA" sz="1600" dirty="0"/>
              <a:t>une date</a:t>
            </a:r>
          </a:p>
          <a:p>
            <a:pPr lvl="1"/>
            <a:r>
              <a:rPr lang="fr-CA" sz="1600" dirty="0"/>
              <a:t>une heure </a:t>
            </a:r>
          </a:p>
          <a:p>
            <a:pPr lvl="1"/>
            <a:r>
              <a:rPr lang="fr-CA" sz="1600" dirty="0"/>
              <a:t>une fonction</a:t>
            </a:r>
          </a:p>
          <a:p>
            <a:endParaRPr lang="fr-CA" sz="1800" dirty="0"/>
          </a:p>
          <a:p>
            <a:r>
              <a:rPr lang="fr-CA" sz="1800" dirty="0"/>
              <a:t>Une </a:t>
            </a:r>
            <a:r>
              <a:rPr lang="fr-CA" sz="1800" b="1" dirty="0"/>
              <a:t>valeur</a:t>
            </a:r>
            <a:r>
              <a:rPr lang="fr-CA" sz="1800" dirty="0"/>
              <a:t> est toujours alignée à </a:t>
            </a:r>
            <a:r>
              <a:rPr lang="fr-CA" sz="1800" b="1" dirty="0"/>
              <a:t>droite </a:t>
            </a:r>
            <a:r>
              <a:rPr lang="fr-CA" sz="1800" dirty="0"/>
              <a:t>par défaut</a:t>
            </a:r>
          </a:p>
          <a:p>
            <a:r>
              <a:rPr lang="fr-CA" sz="1800" dirty="0"/>
              <a:t>Une </a:t>
            </a:r>
            <a:r>
              <a:rPr lang="fr-CA" sz="1800" b="1" dirty="0"/>
              <a:t>étiquette</a:t>
            </a:r>
            <a:r>
              <a:rPr lang="fr-CA" sz="1800" dirty="0"/>
              <a:t> est toujours alignée à </a:t>
            </a:r>
            <a:r>
              <a:rPr lang="fr-CA" sz="1800" b="1" dirty="0"/>
              <a:t>gauche</a:t>
            </a:r>
            <a:r>
              <a:rPr lang="fr-CA" sz="1800" dirty="0"/>
              <a:t> par défaut</a:t>
            </a:r>
          </a:p>
          <a:p>
            <a:endParaRPr lang="fr-CA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63CFD0D-8CDF-F1AD-4F03-225F5F4B65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8</a:t>
            </a:fld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13AB243-A353-53E9-9EDF-E946A7FB765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02603" y="3258475"/>
            <a:ext cx="5028565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Astuce</a:t>
            </a:r>
            <a:r>
              <a:rPr lang="fr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afficher un nombre comme une étiquette,</a:t>
            </a:r>
            <a:br>
              <a:rPr lang="fr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ajouter une apostrophe ( ' ) devant ce nombre.</a:t>
            </a:r>
          </a:p>
        </p:txBody>
      </p:sp>
    </p:spTree>
    <p:extLst>
      <p:ext uri="{BB962C8B-B14F-4D97-AF65-F5344CB8AC3E}">
        <p14:creationId xmlns:p14="http://schemas.microsoft.com/office/powerpoint/2010/main" val="302478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2B351-1242-EF4F-95AE-2D0E520BC41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Raccourcis claviers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7D0443-1065-C515-0FFC-886763C3B30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Validation entrée de donnée : 3 méthodes </a:t>
            </a:r>
          </a:p>
          <a:p>
            <a:pPr lvl="1"/>
            <a:r>
              <a:rPr lang="fr-CA" dirty="0"/>
              <a:t>[</a:t>
            </a:r>
            <a:r>
              <a:rPr lang="fr-CA" b="1" dirty="0"/>
              <a:t>Entrée</a:t>
            </a:r>
            <a:r>
              <a:rPr lang="fr-CA" dirty="0"/>
              <a:t>] </a:t>
            </a:r>
            <a:r>
              <a:rPr lang="fr-CA" dirty="0">
                <a:sym typeface="Wingdings" pitchFamily="2" charset="2"/>
              </a:rPr>
              <a:t> Se déplace dans la cellule dessous</a:t>
            </a:r>
          </a:p>
          <a:p>
            <a:pPr lvl="3"/>
            <a:r>
              <a:rPr lang="fr-CA" dirty="0">
                <a:sym typeface="Wingdings" pitchFamily="2" charset="2"/>
              </a:rPr>
              <a:t>Lorsqu’on modifie une ligne complète </a:t>
            </a:r>
          </a:p>
          <a:p>
            <a:pPr lvl="4"/>
            <a:r>
              <a:rPr lang="fr-CA" dirty="0">
                <a:sym typeface="Wingdings" pitchFamily="2" charset="2"/>
              </a:rPr>
              <a:t> retomberas à la première cellule de la ligne</a:t>
            </a:r>
          </a:p>
          <a:p>
            <a:pPr lvl="1"/>
            <a:r>
              <a:rPr lang="fr-CA" dirty="0">
                <a:sym typeface="Wingdings" pitchFamily="2" charset="2"/>
              </a:rPr>
              <a:t>[</a:t>
            </a:r>
            <a:r>
              <a:rPr lang="fr-CA" b="1" dirty="0">
                <a:sym typeface="Wingdings" pitchFamily="2" charset="2"/>
              </a:rPr>
              <a:t>Tab</a:t>
            </a:r>
            <a:r>
              <a:rPr lang="fr-CA" dirty="0">
                <a:sym typeface="Wingdings" pitchFamily="2" charset="2"/>
              </a:rPr>
              <a:t>]  Se déplace dans la cellule à droite</a:t>
            </a:r>
          </a:p>
          <a:p>
            <a:pPr lvl="1"/>
            <a:r>
              <a:rPr lang="fr-CA" dirty="0">
                <a:sym typeface="Wingdings" pitchFamily="2" charset="2"/>
              </a:rPr>
              <a:t>[</a:t>
            </a:r>
            <a:r>
              <a:rPr lang="fr-CA" b="1" dirty="0">
                <a:sym typeface="Wingdings" pitchFamily="2" charset="2"/>
              </a:rPr>
              <a:t>Flèche</a:t>
            </a:r>
            <a:r>
              <a:rPr lang="fr-CA" dirty="0">
                <a:sym typeface="Wingdings" pitchFamily="2" charset="2"/>
              </a:rPr>
              <a:t>]  Se déplace dans la direction de la flèche</a:t>
            </a:r>
            <a:endParaRPr lang="fr-CA" dirty="0"/>
          </a:p>
          <a:p>
            <a:pPr lvl="1"/>
            <a:r>
              <a:rPr lang="fr-CA" b="1" dirty="0">
                <a:solidFill>
                  <a:srgbClr val="FF0000"/>
                </a:solidFill>
              </a:rPr>
              <a:t>Astuce</a:t>
            </a:r>
            <a:r>
              <a:rPr lang="fr-CA" dirty="0">
                <a:solidFill>
                  <a:schemeClr val="tx1"/>
                </a:solidFill>
              </a:rPr>
              <a:t> : </a:t>
            </a:r>
          </a:p>
          <a:p>
            <a:pPr lvl="2"/>
            <a:r>
              <a:rPr lang="fr-CA" dirty="0">
                <a:solidFill>
                  <a:schemeClr val="tx1"/>
                </a:solidFill>
              </a:rPr>
              <a:t>Pour modifier rapidement une cellule sélectionnée, il suffit d’appuyer sur la touche </a:t>
            </a:r>
            <a:r>
              <a:rPr lang="fr-CA" b="1" dirty="0">
                <a:solidFill>
                  <a:schemeClr val="tx1"/>
                </a:solidFill>
              </a:rPr>
              <a:t>F2</a:t>
            </a:r>
            <a:r>
              <a:rPr lang="fr-CA" dirty="0">
                <a:solidFill>
                  <a:schemeClr val="tx1"/>
                </a:solidFill>
              </a:rPr>
              <a:t>.</a:t>
            </a:r>
          </a:p>
          <a:p>
            <a:endParaRPr lang="fr-CA" dirty="0"/>
          </a:p>
          <a:p>
            <a:r>
              <a:rPr lang="fr-CA" dirty="0">
                <a:solidFill>
                  <a:schemeClr val="tx1"/>
                </a:solidFill>
              </a:rPr>
              <a:t>Sélectionner des cellules multiples</a:t>
            </a:r>
          </a:p>
          <a:p>
            <a:pPr lvl="1"/>
            <a:r>
              <a:rPr lang="fr-CA" b="1" dirty="0"/>
              <a:t>[MAJ] + [Flèche]</a:t>
            </a:r>
          </a:p>
          <a:p>
            <a:pPr lvl="1"/>
            <a:r>
              <a:rPr lang="fr-CA" b="1" dirty="0">
                <a:solidFill>
                  <a:schemeClr val="tx1"/>
                </a:solidFill>
              </a:rPr>
              <a:t>[CTRL] + souris </a:t>
            </a:r>
            <a:r>
              <a:rPr lang="fr-CA" dirty="0">
                <a:solidFill>
                  <a:schemeClr val="tx1"/>
                </a:solidFill>
              </a:rPr>
              <a:t>; si non adjacentes</a:t>
            </a:r>
          </a:p>
          <a:p>
            <a:pPr lvl="1"/>
            <a:r>
              <a:rPr lang="fr-CA" dirty="0"/>
              <a:t>Ligne entière / Colonne entière </a:t>
            </a:r>
            <a:r>
              <a:rPr lang="fr-CA" dirty="0">
                <a:sym typeface="Wingdings" panose="05000000000000000000" pitchFamily="2" charset="2"/>
              </a:rPr>
              <a:t> cliquer sur l’entête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FE73FC-A555-E4A5-8FDD-E85F37BBAA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9</a:t>
            </a:fld>
            <a:endParaRPr lang="fr-CA" dirty="0"/>
          </a:p>
        </p:txBody>
      </p:sp>
      <p:pic>
        <p:nvPicPr>
          <p:cNvPr id="7" name="Picture 2" descr="Jeu de labyrinthe en ligne pour enfants - tidou.fr">
            <a:extLst>
              <a:ext uri="{FF2B5EF4-FFF2-40B4-BE49-F238E27FC236}">
                <a16:creationId xmlns:a16="http://schemas.microsoft.com/office/drawing/2014/main" id="{4422AB50-14E5-06A9-BFC1-2F75CDDFA062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201" y="2661718"/>
            <a:ext cx="1004721" cy="5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522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B8AE08-99F0-751B-6015-C90745168DE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Types de pointeurs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52F28C-E17D-7B76-DA2F-79E6CBEE800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b="1" dirty="0"/>
              <a:t>Normal ou En croix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Sélectionner une cellule ou une plage</a:t>
            </a:r>
          </a:p>
          <a:p>
            <a:endParaRPr lang="fr-CA" dirty="0"/>
          </a:p>
          <a:p>
            <a:r>
              <a:rPr lang="fr-CA" b="1" dirty="0"/>
              <a:t>De déplacement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Change l'emplacement d'une cellule ou d'une plage</a:t>
            </a:r>
          </a:p>
          <a:p>
            <a:endParaRPr lang="fr-CA" dirty="0"/>
          </a:p>
          <a:p>
            <a:r>
              <a:rPr lang="fr-CA" b="1" dirty="0"/>
              <a:t>Poignée de recopie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Remplir automatiquement des cellules adjacentes en fonction du contenu</a:t>
            </a:r>
          </a:p>
          <a:p>
            <a:endParaRPr lang="fr-CA" dirty="0"/>
          </a:p>
          <a:p>
            <a:r>
              <a:rPr lang="fr-CA" b="1" dirty="0"/>
              <a:t>En I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Modifie le contenu de la barre de formule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87F54D-9338-B2BB-FC63-660F2EFECFE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10</a:t>
            </a:fld>
            <a:endParaRPr lang="fr-CA" dirty="0"/>
          </a:p>
        </p:txBody>
      </p:sp>
      <p:pic>
        <p:nvPicPr>
          <p:cNvPr id="7" name="Image 6" descr="Une image contenant assis, moniteur&#10;&#10;Description générée automatiquement">
            <a:extLst>
              <a:ext uri="{FF2B5EF4-FFF2-40B4-BE49-F238E27FC236}">
                <a16:creationId xmlns:a16="http://schemas.microsoft.com/office/drawing/2014/main" id="{0D17720F-E5C6-95D7-420C-F9D55C4DB2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344" y="685801"/>
            <a:ext cx="3987784" cy="2510827"/>
          </a:xfrm>
          <a:prstGeom prst="rect">
            <a:avLst/>
          </a:prstGeom>
        </p:spPr>
      </p:pic>
      <p:pic>
        <p:nvPicPr>
          <p:cNvPr id="8" name="Picture 4" descr="sshot-2">
            <a:extLst>
              <a:ext uri="{FF2B5EF4-FFF2-40B4-BE49-F238E27FC236}">
                <a16:creationId xmlns:a16="http://schemas.microsoft.com/office/drawing/2014/main" id="{A48230D6-E82D-7710-23A5-152C5C2817A1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72080" y="1076543"/>
            <a:ext cx="649288" cy="6080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6" descr="sshot-3">
            <a:extLst>
              <a:ext uri="{FF2B5EF4-FFF2-40B4-BE49-F238E27FC236}">
                <a16:creationId xmlns:a16="http://schemas.microsoft.com/office/drawing/2014/main" id="{A2974ACC-E367-E894-3A99-0C702C4698DB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0449" y="2152674"/>
            <a:ext cx="649288" cy="68739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8" descr="sshot-4">
            <a:extLst>
              <a:ext uri="{FF2B5EF4-FFF2-40B4-BE49-F238E27FC236}">
                <a16:creationId xmlns:a16="http://schemas.microsoft.com/office/drawing/2014/main" id="{65A67BFC-2A48-1DF8-51CE-29A0EBAFD21E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5093" y="3367404"/>
            <a:ext cx="581025" cy="5937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0" descr="sshot-5">
            <a:extLst>
              <a:ext uri="{FF2B5EF4-FFF2-40B4-BE49-F238E27FC236}">
                <a16:creationId xmlns:a16="http://schemas.microsoft.com/office/drawing/2014/main" id="{AD466A8C-A844-FBE8-B8B5-E3AA2C30E90D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2090" y="4575396"/>
            <a:ext cx="446088" cy="5540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98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04BD113-6B02-460F-3A2E-E574905C051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5.1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15" name="Espace réservé pour une image  14">
            <a:extLst>
              <a:ext uri="{FF2B5EF4-FFF2-40B4-BE49-F238E27FC236}">
                <a16:creationId xmlns:a16="http://schemas.microsoft.com/office/drawing/2014/main" id="{751BD458-D272-FCE5-0BDF-A697DFCAEB6E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7"/>
          <a:srcRect t="5045" b="5045"/>
          <a:stretch/>
        </p:blipFill>
        <p:spPr/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FF8E203-C8AA-A361-88B1-F9D0D9229ECD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549640" y="1323265"/>
            <a:ext cx="3200400" cy="4948948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Créer un nouveau fichier Excel appelé « 5-Exercices ». 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Reproduire l’exercice 5.1 dans ce fichier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Renommez la feuille « 5.1 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Entrer les informations de la ligne 1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Jeux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Succès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X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Points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Entrez dans la cellule A2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« Elder Scroll Skyrim 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Déplacez-vous vers la cellule A3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Commencer à écrire « Elder »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Vous devriez avoir comme suggestion « Elder Scroll Skyrim »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Utilisez la touche « Enter » ou « tab » pour accepter la suggestion et passer à la cellule suivante.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Essayez les 2, quelle est la différence?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Complétez les informations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Vous devriez remarquer que l’alignement des étiquettes et des valeurs numériques sont différentes par défaut.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1C6A6-B5EB-6FFF-E704-C54CB23E72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7859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358A0-7EDC-F82A-5BC8-7EECEDCC118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5.2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DB40FA7F-2CD5-8AFD-04E6-9D4F724F8AF5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6"/>
          <a:srcRect t="3275" b="3275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378D6E-E572-E708-34FF-E64036546046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Trouver comment faire une copie de votre feuille 5.1 vers une nouvelle feuille.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Renommez cette nouvelle feuille « 5.2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Changement l’alignement de la colonne C et D pour avoir le texte centré.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Sélectionnez la ligne 1 entière et mettre le fond jaune.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Mettre en gras la ligne 1 entière </a:t>
            </a:r>
            <a:r>
              <a:rPr lang="fr-CA" b="1" dirty="0"/>
              <a:t>avec le raccourcis clavier.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Entrez « D3 » dans la zone de nom, qu’est-ce qui apparait dans la barre de formule?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3849E8-D3DF-833E-2420-0FDAE390EE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3237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09F86A6-5882-5CCB-5E8F-DF270AA75B8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z="4800" dirty="0"/>
              <a:t>Protéger les feuilles de calcul et les classeurs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0DD41C2-852A-B5F8-C9FB-0F978FB044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Pour protéger les données importantes:</a:t>
            </a:r>
          </a:p>
          <a:p>
            <a:pPr lvl="1"/>
            <a:r>
              <a:rPr lang="fr-CA" dirty="0"/>
              <a:t>verrouiller des cellules sélectionnées </a:t>
            </a:r>
          </a:p>
          <a:p>
            <a:pPr lvl="2"/>
            <a:r>
              <a:rPr lang="fr-CA" dirty="0"/>
              <a:t>afin que d’autres utilisateurs puissent voir les données, mais sans pouvoir les modifier.</a:t>
            </a:r>
          </a:p>
          <a:p>
            <a:pPr lvl="1"/>
            <a:r>
              <a:rPr lang="fr-CA" dirty="0"/>
              <a:t>Par défaut, verrouille toutes les cellules, </a:t>
            </a:r>
          </a:p>
          <a:p>
            <a:pPr lvl="2"/>
            <a:r>
              <a:rPr lang="fr-CA" dirty="0"/>
              <a:t>mais n’entre en action que lorsque nous l’activons avec le mécanisme de protection de la feuille.</a:t>
            </a:r>
          </a:p>
          <a:p>
            <a:pPr lvl="1"/>
            <a:endParaRPr lang="fr-CA" dirty="0"/>
          </a:p>
          <a:p>
            <a:r>
              <a:rPr lang="fr-CA" dirty="0"/>
              <a:t>Une stratégie de protection habituellement mise en œuvre :</a:t>
            </a:r>
          </a:p>
          <a:p>
            <a:pPr lvl="1"/>
            <a:r>
              <a:rPr lang="fr-CA" dirty="0"/>
              <a:t>Déverrouiller les cellules qui contiennent les données destinées à être modifiées 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B3CF3D-F32B-FBDC-6476-D1DA7715DAB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6548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358A0-7EDC-F82A-5BC8-7EECEDCC118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5.3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A3C3042-D29C-00D3-A079-AAACFD8269CA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6"/>
          <a:srcRect l="15082" r="15082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378D6E-E572-E708-34FF-E64036546046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À partir de la feuille « 5.1 » déjà commencée.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Déverrouillez les cellules de la colonne « X » sauf celle de la ligne 1.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Verrouillez la feuille 5.1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Essayez de modifier les valeurs de la colonne A.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Essayez de modifier les valeurs de la colonne C.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3849E8-D3DF-833E-2420-0FDAE390EE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3132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1B03349-9796-8555-92C1-C9DE310A85B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Formules et fonctions Excel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9FCDAEF-60DA-3728-27BB-A0B336C75B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26886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21978D1-2840-AFD3-3F3E-A7ECE085EC0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Formules Excel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333A518-E708-4118-A4E3-0817AD5BC7B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Les formules font la puissance d'Excel</a:t>
            </a:r>
          </a:p>
          <a:p>
            <a:r>
              <a:rPr lang="fr-CA" b="1" dirty="0"/>
              <a:t>Une formule commence par "=" </a:t>
            </a:r>
          </a:p>
          <a:p>
            <a:r>
              <a:rPr lang="fr-CA" dirty="0"/>
              <a:t>Les formules arithmétiques utilisent une ou plusieurs cellules et opérateurs</a:t>
            </a:r>
          </a:p>
          <a:p>
            <a:endParaRPr lang="fr-CA" dirty="0"/>
          </a:p>
          <a:p>
            <a:r>
              <a:rPr lang="fr-CA" dirty="0"/>
              <a:t>Les opérateurs disponibles sont les suivants</a:t>
            </a:r>
          </a:p>
          <a:p>
            <a:pPr lvl="1"/>
            <a:r>
              <a:rPr lang="fr-CA" b="1" dirty="0"/>
              <a:t>Addition (+)</a:t>
            </a:r>
          </a:p>
          <a:p>
            <a:pPr lvl="1"/>
            <a:r>
              <a:rPr lang="fr-CA" b="1" dirty="0"/>
              <a:t>Soustraction (-) </a:t>
            </a:r>
          </a:p>
          <a:p>
            <a:pPr lvl="1"/>
            <a:r>
              <a:rPr lang="fr-CA" b="1" dirty="0"/>
              <a:t>Multiplication (*)</a:t>
            </a:r>
          </a:p>
          <a:p>
            <a:pPr lvl="1"/>
            <a:r>
              <a:rPr lang="fr-CA" b="1" dirty="0"/>
              <a:t>Division (/)</a:t>
            </a:r>
          </a:p>
          <a:p>
            <a:pPr lvl="1"/>
            <a:r>
              <a:rPr lang="fr-CA" b="1" dirty="0"/>
              <a:t>l’Exposant (^)</a:t>
            </a:r>
          </a:p>
          <a:p>
            <a:endParaRPr lang="fr-CA" dirty="0">
              <a:solidFill>
                <a:srgbClr val="FF0000"/>
              </a:solidFill>
            </a:endParaRPr>
          </a:p>
          <a:p>
            <a:r>
              <a:rPr lang="fr-CA" dirty="0">
                <a:solidFill>
                  <a:srgbClr val="FF0000"/>
                </a:solidFill>
              </a:rPr>
              <a:t>** Attention </a:t>
            </a:r>
            <a:r>
              <a:rPr lang="fr-CA" dirty="0"/>
              <a:t>: la priorité des opérations est appliquée dans une formule Excel </a:t>
            </a:r>
            <a:r>
              <a:rPr lang="fr-CA" dirty="0">
                <a:solidFill>
                  <a:srgbClr val="FF0000"/>
                </a:solidFill>
              </a:rPr>
              <a:t>**</a:t>
            </a:r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625C51-4FC9-EF3C-C5DE-8C6B776888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pPr/>
              <a:t>16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48610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2E271D5-4DB0-1130-D0D9-6F880E11DA6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Fonctions Excel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7136D35-8170-F375-D2CC-B81618CEBBE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Formules prédéfinies pour effectuer facilement des calculs complexes</a:t>
            </a:r>
          </a:p>
          <a:p>
            <a:pPr lvl="1"/>
            <a:r>
              <a:rPr lang="fr-CA" dirty="0"/>
              <a:t>Aide </a:t>
            </a:r>
            <a:r>
              <a:rPr lang="fr-CA" dirty="0">
                <a:sym typeface="Wingdings" panose="05000000000000000000" pitchFamily="2" charset="2"/>
              </a:rPr>
              <a:t> Outil analyse rapide</a:t>
            </a:r>
            <a:endParaRPr lang="fr-CA" dirty="0"/>
          </a:p>
          <a:p>
            <a:endParaRPr lang="fr-CA" dirty="0"/>
          </a:p>
          <a:p>
            <a:r>
              <a:rPr lang="fr-CA" dirty="0"/>
              <a:t>Informations nécessaires: </a:t>
            </a:r>
            <a:r>
              <a:rPr lang="fr-CA" sz="2400" b="1" dirty="0">
                <a:solidFill>
                  <a:srgbClr val="FF0000"/>
                </a:solidFill>
              </a:rPr>
              <a:t>=</a:t>
            </a:r>
            <a:r>
              <a:rPr lang="fr-CA" i="1" dirty="0">
                <a:solidFill>
                  <a:schemeClr val="accent1"/>
                </a:solidFill>
              </a:rPr>
              <a:t>[NOM]</a:t>
            </a:r>
            <a:r>
              <a:rPr lang="fr-CA" sz="2400" b="1" dirty="0">
                <a:solidFill>
                  <a:srgbClr val="FF0000"/>
                </a:solidFill>
              </a:rPr>
              <a:t>(</a:t>
            </a:r>
            <a:r>
              <a:rPr lang="fr-CA" i="1" dirty="0">
                <a:solidFill>
                  <a:srgbClr val="00B050"/>
                </a:solidFill>
              </a:rPr>
              <a:t>[argument1]</a:t>
            </a:r>
            <a:r>
              <a:rPr lang="fr-CA" sz="2400" b="1" dirty="0">
                <a:solidFill>
                  <a:srgbClr val="FF0000"/>
                </a:solidFill>
              </a:rPr>
              <a:t>;</a:t>
            </a:r>
            <a:r>
              <a:rPr lang="fr-CA" sz="2400" b="1" dirty="0"/>
              <a:t> </a:t>
            </a:r>
            <a:r>
              <a:rPr lang="fr-CA" i="1" dirty="0">
                <a:solidFill>
                  <a:srgbClr val="00B050"/>
                </a:solidFill>
              </a:rPr>
              <a:t>[argument2]</a:t>
            </a:r>
            <a:r>
              <a:rPr lang="fr-CA" sz="2400" b="1" dirty="0">
                <a:solidFill>
                  <a:srgbClr val="FF0000"/>
                </a:solidFill>
              </a:rPr>
              <a:t>)</a:t>
            </a:r>
            <a:endParaRPr lang="fr-CA" b="1" dirty="0">
              <a:solidFill>
                <a:srgbClr val="FF0000"/>
              </a:solidFill>
            </a:endParaRPr>
          </a:p>
          <a:p>
            <a:pPr lvl="1"/>
            <a:r>
              <a:rPr lang="fr-CA" dirty="0"/>
              <a:t>Nom de la fonction</a:t>
            </a:r>
          </a:p>
          <a:p>
            <a:pPr lvl="1"/>
            <a:r>
              <a:rPr lang="fr-CA" dirty="0"/>
              <a:t>Arguments: varie selon le besoin</a:t>
            </a:r>
          </a:p>
          <a:p>
            <a:pPr lvl="2"/>
            <a:r>
              <a:rPr lang="fr-CA" dirty="0"/>
              <a:t>Opérateurs</a:t>
            </a:r>
          </a:p>
          <a:p>
            <a:pPr lvl="2"/>
            <a:r>
              <a:rPr lang="fr-CA" dirty="0"/>
              <a:t>Cellules ou valeur</a:t>
            </a:r>
          </a:p>
          <a:p>
            <a:pPr lvl="1"/>
            <a:endParaRPr lang="fr-CA" dirty="0"/>
          </a:p>
          <a:p>
            <a:r>
              <a:rPr lang="fr-CA" dirty="0"/>
              <a:t>Exemple : </a:t>
            </a:r>
            <a:r>
              <a:rPr lang="fr-CA" dirty="0">
                <a:solidFill>
                  <a:srgbClr val="FF0000"/>
                </a:solidFill>
              </a:rPr>
              <a:t>=</a:t>
            </a:r>
            <a:r>
              <a:rPr lang="fr-CA" dirty="0">
                <a:solidFill>
                  <a:schemeClr val="accent1"/>
                </a:solidFill>
              </a:rPr>
              <a:t>SOMME</a:t>
            </a:r>
            <a:r>
              <a:rPr lang="fr-CA" dirty="0">
                <a:solidFill>
                  <a:srgbClr val="FF0000"/>
                </a:solidFill>
              </a:rPr>
              <a:t>(</a:t>
            </a:r>
            <a:r>
              <a:rPr lang="fr-CA" dirty="0">
                <a:solidFill>
                  <a:srgbClr val="00B050"/>
                </a:solidFill>
              </a:rPr>
              <a:t>B4:B12</a:t>
            </a:r>
            <a:r>
              <a:rPr lang="fr-CA" dirty="0">
                <a:solidFill>
                  <a:srgbClr val="FF0000"/>
                </a:solidFill>
              </a:rPr>
              <a:t>) </a:t>
            </a:r>
            <a:r>
              <a:rPr lang="fr-CA" dirty="0">
                <a:sym typeface="Wingdings" panose="05000000000000000000" pitchFamily="2" charset="2"/>
              </a:rPr>
              <a:t> 1 seul argument pour cette fonction</a:t>
            </a:r>
            <a:endParaRPr lang="fr-CA" dirty="0">
              <a:solidFill>
                <a:srgbClr val="FF0000"/>
              </a:solidFill>
            </a:endParaRPr>
          </a:p>
          <a:p>
            <a:pPr lvl="1"/>
            <a:r>
              <a:rPr lang="fr-CA" dirty="0"/>
              <a:t>La fonction SOMME prend comme argument une plage de cellules, et elle en fait la somme.</a:t>
            </a:r>
          </a:p>
          <a:p>
            <a:pPr lvl="1"/>
            <a:endParaRPr lang="fr-CA" dirty="0"/>
          </a:p>
          <a:p>
            <a:r>
              <a:rPr lang="fr-CA" sz="2000" b="1" dirty="0">
                <a:solidFill>
                  <a:srgbClr val="FF0000"/>
                </a:solidFill>
              </a:rPr>
              <a:t>Attention</a:t>
            </a:r>
            <a:r>
              <a:rPr lang="fr-CA" sz="2000" dirty="0"/>
              <a:t> : Certaines fonctions sont sensibles à la langue du logiciel</a:t>
            </a:r>
          </a:p>
          <a:p>
            <a:pPr lvl="1"/>
            <a:r>
              <a:rPr lang="fr-CA" dirty="0"/>
              <a:t>Ex: somme en anglais </a:t>
            </a:r>
            <a:r>
              <a:rPr lang="fr-CA" dirty="0">
                <a:sym typeface="Wingdings" panose="05000000000000000000" pitchFamily="2" charset="2"/>
              </a:rPr>
              <a:t> =SUM(B4:B12)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8489A8-FB63-DBCA-3BF4-625D07096C1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17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5FF1A08-F489-7502-AFB6-AFBA3594EDA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45673" y="1583704"/>
            <a:ext cx="711302" cy="4445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8654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83F7A4C2-89CF-DFEB-425F-E5EB5EBF761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Fonctions : Formula Builder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F7D52-9CDB-DDE3-0170-906A7BF2F47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 i="0" dirty="0">
                <a:solidFill>
                  <a:srgbClr val="00A7FA"/>
                </a:solidFill>
                <a:effectLst/>
                <a:latin typeface="Arial" panose="020B0604020202020204" pitchFamily="34" charset="0"/>
                <a:hlinkClick r:id="rId6"/>
              </a:rPr>
              <a:t>Utiliser les formules et fonctions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F3B931-5484-129F-7904-4A636A8ACB6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18</a:t>
            </a:fld>
            <a:endParaRPr lang="fr-CA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93028A0-948D-D024-0EB1-B2C3800DA04C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33" y="1825274"/>
            <a:ext cx="10368934" cy="395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429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541E618-742D-E618-B34A-D37DF0BDFEE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5.4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045C50EB-2784-FF53-816A-DCFFAA40BC46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7"/>
          <a:srcRect t="1147" b="1147"/>
          <a:stretch/>
        </p:blipFill>
        <p:spPr/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01C3BB0-41B0-0803-42FB-F2B5D016B461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549640" y="1323265"/>
            <a:ext cx="3200400" cy="520816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5.2 dans une nouvelle feuille « 5.4 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 nouveau titre à la ligne 1 « Score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Modifier la valeur de C2 pour « 1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Dans la cellule E2 faites le calcul de la valeur du succès.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Dans la cellule D8, faites la somme de tous les champs D2 à D7.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Dans la cellule E8, faites la somme de tous les champs de la colonne.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Que se passe-t-il?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Pourquoi?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11AA1C-9B65-FA3E-35EE-57B904FC08D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19</a:t>
            </a:fld>
            <a:endParaRPr lang="fr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0F798-F306-6750-0FD7-4466C5E0AB3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63243" y="3974014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?</a:t>
            </a:r>
            <a:endParaRPr lang="fr-F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4594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5.5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E5570DCC-AF10-5483-9656-C5BFA0237D3F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7"/>
          <a:srcRect t="4545" b="4545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5.2 dans une nouvelle feuille « 5.5 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Dans la cellule E2: Créez une formule qui vérifie si la case C2 contient un X si oui la valeur sera celle de D2 autrement la valeur sera de 0.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Dans la cellule C8: Créez une formule qui comptabilise le nombre de X dans la colonne (sans compter l’en-tête).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41960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53E9C1-6240-00F2-98FD-056EE091D1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Références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E6274-9BE3-C4EC-9FC8-091696E6EE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Depuis que l’on a vu les formules, nous utilisons les références des cellules telles que A2, C12, etc.</a:t>
            </a:r>
          </a:p>
          <a:p>
            <a:pPr lvl="1"/>
            <a:r>
              <a:rPr lang="fr-CA" dirty="0"/>
              <a:t>Exemple : =</a:t>
            </a:r>
            <a:r>
              <a:rPr lang="fr-CA" dirty="0">
                <a:solidFill>
                  <a:srgbClr val="FF0000"/>
                </a:solidFill>
              </a:rPr>
              <a:t>A2</a:t>
            </a:r>
            <a:r>
              <a:rPr lang="fr-CA" dirty="0"/>
              <a:t> * </a:t>
            </a:r>
            <a:r>
              <a:rPr lang="fr-CA" dirty="0">
                <a:solidFill>
                  <a:srgbClr val="FF0000"/>
                </a:solidFill>
              </a:rPr>
              <a:t>B2</a:t>
            </a:r>
            <a:r>
              <a:rPr lang="fr-CA" dirty="0"/>
              <a:t> * 1.14975</a:t>
            </a:r>
          </a:p>
          <a:p>
            <a:pPr lvl="1"/>
            <a:endParaRPr lang="fr-CA" dirty="0"/>
          </a:p>
          <a:p>
            <a:r>
              <a:rPr lang="fr-CA" dirty="0"/>
              <a:t>L’utilisation des noms de cellule s’appelle des références</a:t>
            </a:r>
          </a:p>
          <a:p>
            <a:endParaRPr lang="fr-CA" dirty="0"/>
          </a:p>
          <a:p>
            <a:r>
              <a:rPr lang="fr-CA" dirty="0"/>
              <a:t>Ainsi le terme référence sert à référer à une cellule donnée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C9182-AB06-13D8-D164-0FC3134756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93566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7EFC4-4559-68F3-682B-5C00F9BECD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Relatives vs absolues </a:t>
            </a:r>
            <a:r>
              <a:rPr lang="fr-CA" sz="4400" dirty="0"/>
              <a:t>: Transposition de formule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57C0D-90A1-B75F-60D5-7E361F848460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Référence </a:t>
            </a:r>
            <a:r>
              <a:rPr lang="fr-CA" b="1" dirty="0"/>
              <a:t>relative</a:t>
            </a:r>
            <a:r>
              <a:rPr lang="fr-CA" dirty="0"/>
              <a:t> par défaut 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 Excel prend en compte la position de la cellule et non la cellule elle-même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pPr lvl="1"/>
            <a:r>
              <a:rPr lang="fr-CA" dirty="0">
                <a:sym typeface="Wingdings" panose="05000000000000000000" pitchFamily="2" charset="2"/>
              </a:rPr>
              <a:t>Permet de déplacé / copié nos formules qui </a:t>
            </a:r>
            <a:r>
              <a:rPr lang="fr-CA" b="1" dirty="0">
                <a:sym typeface="Wingdings" panose="05000000000000000000" pitchFamily="2" charset="2"/>
              </a:rPr>
              <a:t>« s’adapteront » à leur contexte</a:t>
            </a:r>
          </a:p>
          <a:p>
            <a:pPr lvl="1"/>
            <a:endParaRPr lang="fr-CA" dirty="0">
              <a:sym typeface="Wingdings" panose="05000000000000000000" pitchFamily="2" charset="2"/>
            </a:endParaRPr>
          </a:p>
          <a:p>
            <a:r>
              <a:rPr lang="fr-CA" dirty="0"/>
              <a:t>Référence </a:t>
            </a:r>
            <a:r>
              <a:rPr lang="fr-CA" b="1" dirty="0"/>
              <a:t>absolue</a:t>
            </a:r>
            <a:r>
              <a:rPr lang="fr-CA" dirty="0"/>
              <a:t> </a:t>
            </a:r>
            <a:r>
              <a:rPr lang="fr-CA" dirty="0">
                <a:sym typeface="Wingdings" panose="05000000000000000000" pitchFamily="2" charset="2"/>
              </a:rPr>
              <a:t> ignore le contexte et garde la cellule indiquée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Ajouter « </a:t>
            </a:r>
            <a:r>
              <a:rPr lang="fr-CA" b="1" dirty="0">
                <a:solidFill>
                  <a:srgbClr val="FF0000"/>
                </a:solidFill>
                <a:sym typeface="Wingdings" panose="05000000000000000000" pitchFamily="2" charset="2"/>
              </a:rPr>
              <a:t>$</a:t>
            </a:r>
            <a:r>
              <a:rPr lang="fr-CA" dirty="0">
                <a:sym typeface="Wingdings" panose="05000000000000000000" pitchFamily="2" charset="2"/>
              </a:rPr>
              <a:t> » devant l’indicateur absolue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EX: </a:t>
            </a:r>
          </a:p>
          <a:p>
            <a:pPr lvl="2"/>
            <a:r>
              <a:rPr lang="fr-CA" dirty="0">
                <a:sym typeface="Wingdings" panose="05000000000000000000" pitchFamily="2" charset="2"/>
              </a:rPr>
              <a:t>$A1  La ligne resteras fixe, mais la colonne sera relative</a:t>
            </a:r>
          </a:p>
          <a:p>
            <a:pPr lvl="2"/>
            <a:r>
              <a:rPr lang="fr-CA" dirty="0">
                <a:sym typeface="Wingdings" panose="05000000000000000000" pitchFamily="2" charset="2"/>
              </a:rPr>
              <a:t>A$1  La ligne sera relative, mais la colonne restera fixe</a:t>
            </a:r>
          </a:p>
          <a:p>
            <a:pPr lvl="2"/>
            <a:r>
              <a:rPr lang="fr-CA" dirty="0">
                <a:sym typeface="Wingdings" panose="05000000000000000000" pitchFamily="2" charset="2"/>
              </a:rPr>
              <a:t>$A$1  la ligne et la colonne sont fixe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34299E-D192-B357-AD4C-0A90CAABA01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22</a:t>
            </a:fld>
            <a:endParaRPr lang="fr-CA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06E84B8-C0D1-EB5B-DED8-AB3DBEE6EE22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464253" y="2856321"/>
            <a:ext cx="3271930" cy="282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223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5.6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12" name="Espace réservé pour une image  11">
            <a:extLst>
              <a:ext uri="{FF2B5EF4-FFF2-40B4-BE49-F238E27FC236}">
                <a16:creationId xmlns:a16="http://schemas.microsoft.com/office/drawing/2014/main" id="{8448CC2C-41D9-F459-EEFF-BC11E4B01F99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6"/>
          <a:srcRect t="2104" b="2104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5.5 dans une nouvelle feuille « 5.6 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Copier la formule de E2 pour le reste des lignes.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le total des colonnes dans D8 et E8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23295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5.7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703D5367-67D1-6764-D0D1-84B8FDF57FC0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6"/>
          <a:srcRect t="2618" b="2618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5.6 dans une nouvelle feuille « 5.7 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Copier la formule E2 vers F2.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Pourquoi le résultat est différent?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Corriger la formule de la Colonne E2 pour la copier de nouveau et </a:t>
            </a:r>
            <a:r>
              <a:rPr lang="fr-CA" b="1" dirty="0"/>
              <a:t>que le résultat reste le même.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Copier ensuite la formule de F2 vers le bas, et le comportement doit être le même que la colonne E.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34293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591768-1038-C4FF-DB6C-EE1C992067E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Mise en forme conditionnelle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624F6C-2DD6-4612-E2DA-36183B207E0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La mise en forme conditionnelle permet de mettre en valeur automatiquement des cellules qui contiennent des valeurs spécifiées selon une ou des conditions</a:t>
            </a:r>
          </a:p>
          <a:p>
            <a:endParaRPr lang="fr-CA" dirty="0"/>
          </a:p>
          <a:p>
            <a:r>
              <a:rPr lang="fr-CA" dirty="0"/>
              <a:t>Se retrouve dans le groupe « Style »</a:t>
            </a:r>
            <a:r>
              <a:rPr lang="fr-CA" dirty="0">
                <a:sym typeface="Wingdings" pitchFamily="2" charset="2"/>
              </a:rPr>
              <a:t> Mise en forme conditionnelle…</a:t>
            </a:r>
          </a:p>
          <a:p>
            <a:endParaRPr lang="fr-CA" dirty="0"/>
          </a:p>
          <a:p>
            <a:r>
              <a:rPr lang="fr-CA" dirty="0"/>
              <a:t>Voir toutes les mises en forme existantes :</a:t>
            </a:r>
          </a:p>
          <a:p>
            <a:pPr lvl="1"/>
            <a:r>
              <a:rPr lang="fr-CA" dirty="0"/>
              <a:t>Style </a:t>
            </a:r>
            <a:r>
              <a:rPr lang="fr-CA" dirty="0">
                <a:sym typeface="Wingdings" panose="05000000000000000000" pitchFamily="2" charset="2"/>
              </a:rPr>
              <a:t> Mise en forme conditionnelle  Gérer les règles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6E41D7-DF2F-F40E-3419-B85BE270814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pPr/>
              <a:t>25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29737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5.8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21AC9FD5-BC3C-F0E8-E5E3-B2CADA8E53C4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>
          <a:blip r:embed="rId6"/>
          <a:srcRect t="3756" b="3756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5.6 dans une nouvelle feuille « 5.8 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Appliquez une mise en forme conditionne sur la colonne D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Si le nombre est &gt; 30 afficher en vert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Si le nombre est &lt; 30 afficher en jaune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Bonus :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Ne pas prendre en compte l’en-tête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9686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5.9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E25800B7-F95B-CF40-31EC-F221E39A5A1D}"/>
              </a:ext>
            </a:extLst>
          </p:cNvPr>
          <p:cNvPicPr>
            <a:picLocks noGrp="1" noChangeAspect="1"/>
          </p:cNvPicPr>
          <p:nvPr>
            <p:ph type="pic" idx="1"/>
            <p:custDataLst>
              <p:tags r:id="rId2"/>
            </p:custDataLst>
          </p:nvPr>
        </p:nvPicPr>
        <p:blipFill rotWithShape="1">
          <a:blip r:embed="rId7"/>
          <a:srcRect l="6377" r="6377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Dupliquez la feuille 5.6 dans une nouvelle feuille « 5.9 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Ajoutez une mise en forme conditionnelle qui met la ligne en vert lorsque la colonne X contient un X.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95422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2D8982-2400-B8E9-8611-21D6B520FCB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À partir des informations de votre session, créer un tableau Excel avec les informations suivantes pour chacun de vos cours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Code de 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Nom de 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Nombre de périodes dans la semaine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Niveau de difficulté selon vous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Nombre d’heure prévu d’être faites à la maison</a:t>
            </a:r>
          </a:p>
          <a:p>
            <a:r>
              <a:rPr lang="fr-CA" dirty="0"/>
              <a:t>Ajouter des couleurs, des bordures </a:t>
            </a:r>
          </a:p>
          <a:p>
            <a:r>
              <a:rPr lang="fr-CA" dirty="0"/>
              <a:t>Centrer les valeurs et s’assurer que les titres ne dépassent pas de leur cellule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45195-E3AA-120D-27AD-32B900679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28</a:t>
            </a:fld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D1C352E-F75D-1B32-14CA-5344BC094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792" y="1742392"/>
            <a:ext cx="5563376" cy="2267266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25C6FCEC-7571-A2C9-EF41-424AB7AA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5.10: organisation</a:t>
            </a:r>
          </a:p>
        </p:txBody>
      </p:sp>
    </p:spTree>
    <p:extLst>
      <p:ext uri="{BB962C8B-B14F-4D97-AF65-F5344CB8AC3E}">
        <p14:creationId xmlns:p14="http://schemas.microsoft.com/office/powerpoint/2010/main" val="661766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4503-F5ED-BF24-ED7A-A13C254F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857C53-2214-8C49-E083-FA0204318ADE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67419" y="1699006"/>
            <a:ext cx="8109326" cy="54854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dirty="0"/>
          </a:p>
          <a:p>
            <a:pPr>
              <a:buFontTx/>
              <a:buChar char="-"/>
            </a:pPr>
            <a:r>
              <a:rPr lang="fr-CA" dirty="0"/>
              <a:t>Ajouter une colonne qui additionne le nombre d’heures total effectué par semaine</a:t>
            </a:r>
          </a:p>
          <a:p>
            <a:pPr>
              <a:buFontTx/>
              <a:buChar char="-"/>
            </a:pPr>
            <a:r>
              <a:rPr lang="fr-CA" dirty="0"/>
              <a:t>Ajouter le total du nombre d’heure dans la semaine, du nombre d’heures à la maison et du nombre d’heures total.</a:t>
            </a:r>
          </a:p>
          <a:p>
            <a:pPr>
              <a:buFontTx/>
              <a:buChar char="-"/>
            </a:pPr>
            <a:r>
              <a:rPr lang="fr-CA" dirty="0"/>
              <a:t>Ajouter la moyenne du niveau de difficulté dans une cellule à part du tableau.</a:t>
            </a:r>
          </a:p>
          <a:p>
            <a:pPr>
              <a:buFontTx/>
              <a:buChar char="-"/>
            </a:pPr>
            <a:r>
              <a:rPr lang="fr-CA" dirty="0"/>
              <a:t>Faites une mise en forme conditionnelle pour surligner les cours d’informatique (commence par 420)</a:t>
            </a:r>
          </a:p>
          <a:p>
            <a:pPr>
              <a:buFontTx/>
              <a:buChar char="-"/>
            </a:pPr>
            <a:r>
              <a:rPr lang="fr-CA" dirty="0"/>
              <a:t>Assurez-vous que le tableau demeure visuellement bien fait ( pas de mot qui déborde des cellules, couleurs, alignement, titre au-dessus de toutes les colonnes.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0CEBC0-4C4B-ECE5-0D49-1E5506C5C1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29</a:t>
            </a:fld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78D117-E2E6-B3C7-7432-29D1129F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185" y="104477"/>
            <a:ext cx="4411023" cy="1797643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D3DAD55B-3FE4-C0F5-F261-4443D2E1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5.10 suite</a:t>
            </a:r>
          </a:p>
        </p:txBody>
      </p:sp>
    </p:spTree>
    <p:extLst>
      <p:ext uri="{BB962C8B-B14F-4D97-AF65-F5344CB8AC3E}">
        <p14:creationId xmlns:p14="http://schemas.microsoft.com/office/powerpoint/2010/main" val="1926993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6B1DE-5F81-9E53-1385-7BABB084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Pour aller plus loin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7C4F9F-9312-76E0-E907-1C9C9E97D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Rendez-vous sur ce lien: </a:t>
            </a:r>
            <a:r>
              <a:rPr lang="fr-CA" dirty="0">
                <a:hlinkClick r:id="rId2"/>
              </a:rPr>
              <a:t>https://support.microsoft.com/fr-fr/office/fractionner-du-texte-en-plusieurs-colonnes-en-utilisant-des-fonctions-49ec57f9-3d5a-44b2-82da-50dded6e4a68</a:t>
            </a:r>
            <a:r>
              <a:rPr lang="fr-CA" dirty="0"/>
              <a:t> 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Et regardez les divers exemples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Prochain cours</a:t>
            </a:r>
            <a:r>
              <a:rPr lang="fr-CA"/>
              <a:t>: tableaux, graphiques, macros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39B8FD-2D48-CB7F-6BED-A9581D8A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30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23131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D01ED-1B97-F245-23B0-D43ED45B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documentation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710A4C-542D-5E13-AD09-A181FF90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>
                <a:hlinkClick r:id="rId2"/>
              </a:rPr>
              <a:t>https://support.microsoft.com/fr-fr/office/fonctions-excel-par-cat%C3</a:t>
            </a:r>
            <a:r>
              <a:rPr lang="fr-CA">
                <a:hlinkClick r:id="rId2"/>
              </a:rPr>
              <a:t>%A9gorie-5f91f4e9-7b42-46d2-9bd1-63f26a86c0eb</a:t>
            </a: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44CECC-480F-F07E-670C-466D2086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31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20176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CegepShawi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CegepShawi" id="{681698C4-D972-47AC-B91B-B8209838E98A}" vid="{F795193A-F54A-40AC-AB31-66E3D1CFB888}"/>
    </a:ext>
  </a:extLst>
</a:theme>
</file>

<file path=ppt/theme/theme2.xml><?xml version="1.0" encoding="utf-8"?>
<a:theme xmlns:a="http://schemas.openxmlformats.org/drawingml/2006/main" name="1_ThemeCegepShawi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Shawi">
      <a:majorFont>
        <a:latin typeface="Rockwell Condensed"/>
        <a:ea typeface=""/>
        <a:cs typeface=""/>
      </a:majorFont>
      <a:minorFont>
        <a:latin typeface="Arial"/>
        <a:ea typeface=""/>
        <a:cs typeface="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CegepShawi" id="{F74622F3-9AD0-49AA-B502-F9822DC9578A}" vid="{7793C87E-65AA-4A16-B4E8-4E8376329CD0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ThemeCegepShawi</Template>
  <TotalTime>1951</TotalTime>
  <Words>1819</Words>
  <Application>Microsoft Office PowerPoint</Application>
  <PresentationFormat>Grand écran</PresentationFormat>
  <Paragraphs>297</Paragraphs>
  <Slides>31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Arial</vt:lpstr>
      <vt:lpstr>Calibri</vt:lpstr>
      <vt:lpstr>Rockwell Condensed</vt:lpstr>
      <vt:lpstr>Wingdings</vt:lpstr>
      <vt:lpstr>ThemeCegepShawi</vt:lpstr>
      <vt:lpstr>1_ThemeCegepShawi</vt:lpstr>
      <vt:lpstr>Initiation à la profession</vt:lpstr>
      <vt:lpstr>Tableurs</vt:lpstr>
      <vt:lpstr>Introduction  à Microsoft Excel</vt:lpstr>
      <vt:lpstr>Excel</vt:lpstr>
      <vt:lpstr>Éléments visuels</vt:lpstr>
      <vt:lpstr>cellule</vt:lpstr>
      <vt:lpstr>Options de base</vt:lpstr>
      <vt:lpstr>Saisie de données</vt:lpstr>
      <vt:lpstr>Raccourcis claviers</vt:lpstr>
      <vt:lpstr>Types de pointeurs</vt:lpstr>
      <vt:lpstr>Exercice 5.1 : Reproduire</vt:lpstr>
      <vt:lpstr>Exercice 5.2 : Reproduire</vt:lpstr>
      <vt:lpstr>Protéger les feuilles de calcul et les classeurs</vt:lpstr>
      <vt:lpstr>Exercice 5.3 : Reproduire</vt:lpstr>
      <vt:lpstr>Formules et fonctions Excel</vt:lpstr>
      <vt:lpstr>Formules Excel</vt:lpstr>
      <vt:lpstr>Fonctions Excel</vt:lpstr>
      <vt:lpstr>Fonctions : Formula Builder</vt:lpstr>
      <vt:lpstr>Exercice 5.4 : Reproduire</vt:lpstr>
      <vt:lpstr>Exercice 5.5 : Reproduire</vt:lpstr>
      <vt:lpstr>Références</vt:lpstr>
      <vt:lpstr>Relatives vs absolues : Transposition de formule</vt:lpstr>
      <vt:lpstr>Exercice 5.6 : Reproduire</vt:lpstr>
      <vt:lpstr>Exercice 5.7 : Reproduire</vt:lpstr>
      <vt:lpstr>Mise en forme conditionnelle</vt:lpstr>
      <vt:lpstr>Exercice 5.8 : Reproduire</vt:lpstr>
      <vt:lpstr>Exercice 5.9 : Reproduire</vt:lpstr>
      <vt:lpstr>Exercice 5.10: organisation</vt:lpstr>
      <vt:lpstr>Exercice 5.10 suite</vt:lpstr>
      <vt:lpstr>Pour aller plus loin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Initiation à la profession</dc:title>
  <dc:creator>Maude-Amélie Dufresne</dc:creator>
  <cp:lastModifiedBy>Marie-Christine Bélanger</cp:lastModifiedBy>
  <cp:revision>3</cp:revision>
  <dcterms:created xsi:type="dcterms:W3CDTF">2022-09-17T18:47:24Z</dcterms:created>
  <dcterms:modified xsi:type="dcterms:W3CDTF">2026-09-23T17:06:26Z</dcterms:modified>
</cp:coreProperties>
</file>