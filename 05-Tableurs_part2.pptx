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23" r:id="rId2"/>
  </p:sldMasterIdLst>
  <p:notesMasterIdLst>
    <p:notesMasterId r:id="rId28"/>
  </p:notesMasterIdLst>
  <p:sldIdLst>
    <p:sldId id="256" r:id="rId3"/>
    <p:sldId id="314" r:id="rId4"/>
    <p:sldId id="319" r:id="rId5"/>
    <p:sldId id="320" r:id="rId6"/>
    <p:sldId id="324" r:id="rId7"/>
    <p:sldId id="325" r:id="rId8"/>
    <p:sldId id="329" r:id="rId9"/>
    <p:sldId id="318" r:id="rId10"/>
    <p:sldId id="316" r:id="rId11"/>
    <p:sldId id="330" r:id="rId12"/>
    <p:sldId id="317" r:id="rId13"/>
    <p:sldId id="315" r:id="rId14"/>
    <p:sldId id="327" r:id="rId15"/>
    <p:sldId id="328" r:id="rId16"/>
    <p:sldId id="269" r:id="rId17"/>
    <p:sldId id="326" r:id="rId18"/>
    <p:sldId id="332" r:id="rId19"/>
    <p:sldId id="333" r:id="rId20"/>
    <p:sldId id="335" r:id="rId21"/>
    <p:sldId id="336" r:id="rId22"/>
    <p:sldId id="334" r:id="rId23"/>
    <p:sldId id="337" r:id="rId24"/>
    <p:sldId id="338" r:id="rId25"/>
    <p:sldId id="339" r:id="rId26"/>
    <p:sldId id="29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A4677EA-FB87-4D5F-8AC3-580FAA002BA8}">
          <p14:sldIdLst>
            <p14:sldId id="256"/>
          </p14:sldIdLst>
        </p14:section>
        <p14:section name="Tableau et graphiques" id="{885D6EF1-50E3-4DD3-ABB5-A7904ADD22A6}">
          <p14:sldIdLst>
            <p14:sldId id="314"/>
            <p14:sldId id="319"/>
            <p14:sldId id="320"/>
            <p14:sldId id="324"/>
            <p14:sldId id="325"/>
            <p14:sldId id="329"/>
            <p14:sldId id="318"/>
            <p14:sldId id="316"/>
            <p14:sldId id="330"/>
            <p14:sldId id="317"/>
            <p14:sldId id="315"/>
            <p14:sldId id="327"/>
            <p14:sldId id="328"/>
            <p14:sldId id="269"/>
            <p14:sldId id="326"/>
          </p14:sldIdLst>
        </p14:section>
        <p14:section name="Macros" id="{96956464-A6A1-4760-9DDD-7DD6415707A5}">
          <p14:sldIdLst>
            <p14:sldId id="332"/>
            <p14:sldId id="333"/>
            <p14:sldId id="335"/>
            <p14:sldId id="336"/>
            <p14:sldId id="334"/>
            <p14:sldId id="337"/>
            <p14:sldId id="338"/>
            <p14:sldId id="339"/>
          </p14:sldIdLst>
        </p14:section>
        <p14:section name="Fermeture" id="{0A3F744B-4C36-47E0-92B7-595166EA7B06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0915" autoAdjust="0"/>
  </p:normalViewPr>
  <p:slideViewPr>
    <p:cSldViewPr snapToGrid="0">
      <p:cViewPr varScale="1">
        <p:scale>
          <a:sx n="89" d="100"/>
          <a:sy n="89" d="100"/>
        </p:scale>
        <p:origin x="1398" y="90"/>
      </p:cViewPr>
      <p:guideLst/>
    </p:cSldViewPr>
  </p:slideViewPr>
  <p:outlineViewPr>
    <p:cViewPr>
      <p:scale>
        <a:sx n="33" d="100"/>
        <a:sy n="33" d="100"/>
      </p:scale>
      <p:origin x="0" y="-29669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Christine Bélanger" userId="f1dd5d44-ee01-445f-a375-8cecd9999c25" providerId="ADAL" clId="{71ED229A-DC70-46A6-9226-54435465770D}"/>
    <pc:docChg chg="undo custSel addSld delSld modSld sldOrd modMainMaster addSection modSection">
      <pc:chgData name="Marie-Christine Bélanger" userId="f1dd5d44-ee01-445f-a375-8cecd9999c25" providerId="ADAL" clId="{71ED229A-DC70-46A6-9226-54435465770D}" dt="2026-09-30T14:07:00.754" v="3344" actId="6549"/>
      <pc:docMkLst>
        <pc:docMk/>
      </pc:docMkLst>
      <pc:sldChg chg="delSp modSp mod">
        <pc:chgData name="Marie-Christine Bélanger" userId="f1dd5d44-ee01-445f-a375-8cecd9999c25" providerId="ADAL" clId="{71ED229A-DC70-46A6-9226-54435465770D}" dt="2026-09-30T14:07:00.754" v="3344" actId="6549"/>
        <pc:sldMkLst>
          <pc:docMk/>
          <pc:sldMk cId="2403083608" sldId="324"/>
        </pc:sldMkLst>
        <pc:spChg chg="mod">
          <ac:chgData name="Marie-Christine Bélanger" userId="f1dd5d44-ee01-445f-a375-8cecd9999c25" providerId="ADAL" clId="{71ED229A-DC70-46A6-9226-54435465770D}" dt="2026-09-30T14:07:00.754" v="3344" actId="6549"/>
          <ac:spMkLst>
            <pc:docMk/>
            <pc:sldMk cId="2403083608" sldId="324"/>
            <ac:spMk id="4" creationId="{8B55D1F8-872B-6AE3-FEAC-FB27C12CC4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4276D2-1F36-4BEE-80DF-1BB6F524DC0F}" type="datetimeFigureOut">
              <a:rPr lang="fr-CA" smtClean="0"/>
              <a:t>2026-09-30</a:t>
            </a:fld>
            <a:endParaRPr lang="fr-CA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F613A6-F68C-4E34-BBCD-0DFF113067E9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2121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613A6-F68C-4E34-BBCD-0DFF113067E9}" type="slidenum">
              <a:rPr lang="fr-CA" smtClean="0"/>
              <a:t>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356400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Insertion graphique croisé dynamique</a:t>
            </a:r>
          </a:p>
          <a:p>
            <a:r>
              <a:rPr lang="fr-CA" dirty="0"/>
              <a:t>La table s’ajoute avec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F613A6-F68C-4E34-BBCD-0DFF113067E9}" type="slidenum">
              <a:rPr lang="fr-CA" smtClean="0"/>
              <a:t>14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97131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5">
            <a:extLst>
              <a:ext uri="{FF2B5EF4-FFF2-40B4-BE49-F238E27FC236}">
                <a16:creationId xmlns:a16="http://schemas.microsoft.com/office/drawing/2014/main" id="{E19DAF5E-AAB2-0964-3DA8-35E105736CD2}"/>
              </a:ext>
            </a:extLst>
          </p:cNvPr>
          <p:cNvGrpSpPr/>
          <p:nvPr/>
        </p:nvGrpSpPr>
        <p:grpSpPr>
          <a:xfrm>
            <a:off x="0" y="-16976"/>
            <a:ext cx="12192000" cy="1501755"/>
            <a:chOff x="0" y="-1"/>
            <a:chExt cx="7315200" cy="1216153"/>
          </a:xfrm>
        </p:grpSpPr>
        <p:sp>
          <p:nvSpPr>
            <p:cNvPr id="17" name="Rectangle 51">
              <a:extLst>
                <a:ext uri="{FF2B5EF4-FFF2-40B4-BE49-F238E27FC236}">
                  <a16:creationId xmlns:a16="http://schemas.microsoft.com/office/drawing/2014/main" id="{B8E693DF-3A26-0611-B198-8512C7A3AB61}"/>
                </a:ext>
              </a:extLst>
            </p:cNvPr>
            <p:cNvSpPr/>
            <p:nvPr/>
          </p:nvSpPr>
          <p:spPr>
            <a:xfrm>
              <a:off x="0" y="-1"/>
              <a:ext cx="7315200" cy="1130373"/>
            </a:xfrm>
            <a:custGeom>
              <a:avLst/>
              <a:gdLst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0 w 7312660"/>
                <a:gd name="connsiteY3" fmla="*/ 1215390 h 1215390"/>
                <a:gd name="connsiteX4" fmla="*/ 0 w 7312660"/>
                <a:gd name="connsiteY4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67125 w 7312660"/>
                <a:gd name="connsiteY3" fmla="*/ 120967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129665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9525 w 7322185"/>
                <a:gd name="connsiteY0" fmla="*/ 0 h 1129665"/>
                <a:gd name="connsiteX1" fmla="*/ 7322185 w 7322185"/>
                <a:gd name="connsiteY1" fmla="*/ 0 h 1129665"/>
                <a:gd name="connsiteX2" fmla="*/ 7322185 w 7322185"/>
                <a:gd name="connsiteY2" fmla="*/ 1129665 h 1129665"/>
                <a:gd name="connsiteX3" fmla="*/ 3629025 w 7322185"/>
                <a:gd name="connsiteY3" fmla="*/ 733425 h 1129665"/>
                <a:gd name="connsiteX4" fmla="*/ 0 w 7322185"/>
                <a:gd name="connsiteY4" fmla="*/ 1091565 h 1129665"/>
                <a:gd name="connsiteX5" fmla="*/ 9525 w 7322185"/>
                <a:gd name="connsiteY5" fmla="*/ 0 h 1129665"/>
                <a:gd name="connsiteX0" fmla="*/ 0 w 7312660"/>
                <a:gd name="connsiteY0" fmla="*/ 0 h 1129665"/>
                <a:gd name="connsiteX1" fmla="*/ 7312660 w 7312660"/>
                <a:gd name="connsiteY1" fmla="*/ 0 h 1129665"/>
                <a:gd name="connsiteX2" fmla="*/ 7312660 w 7312660"/>
                <a:gd name="connsiteY2" fmla="*/ 1129665 h 1129665"/>
                <a:gd name="connsiteX3" fmla="*/ 3619500 w 7312660"/>
                <a:gd name="connsiteY3" fmla="*/ 733425 h 1129665"/>
                <a:gd name="connsiteX4" fmla="*/ 0 w 7312660"/>
                <a:gd name="connsiteY4" fmla="*/ 1091565 h 1129665"/>
                <a:gd name="connsiteX5" fmla="*/ 0 w 7312660"/>
                <a:gd name="connsiteY5" fmla="*/ 0 h 112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12660" h="1129665">
                  <a:moveTo>
                    <a:pt x="0" y="0"/>
                  </a:moveTo>
                  <a:lnTo>
                    <a:pt x="7312660" y="0"/>
                  </a:lnTo>
                  <a:lnTo>
                    <a:pt x="7312660" y="1129665"/>
                  </a:lnTo>
                  <a:lnTo>
                    <a:pt x="3619500" y="733425"/>
                  </a:lnTo>
                  <a:lnTo>
                    <a:pt x="0" y="109156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3B7492A-D672-7A4D-64E0-D1DBC304F49A}"/>
                </a:ext>
              </a:extLst>
            </p:cNvPr>
            <p:cNvSpPr/>
            <p:nvPr/>
          </p:nvSpPr>
          <p:spPr>
            <a:xfrm>
              <a:off x="0" y="0"/>
              <a:ext cx="7315200" cy="1216152"/>
            </a:xfrm>
            <a:prstGeom prst="rect">
              <a:avLst/>
            </a:prstGeom>
            <a:blipFill>
              <a:blip r:embed="rId2"/>
              <a:stretch>
                <a:fillRect r="-757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</p:grpSp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2857111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5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468030"/>
            <a:ext cx="7891272" cy="990937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CA"/>
              <a:t>Modifier le style des sous-titres du masque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  <p:pic>
        <p:nvPicPr>
          <p:cNvPr id="13" name="Image 12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BFB79C64-B64E-92FE-45AE-59ABE7F8EF3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9" t="25116" r="22475" b="25984"/>
          <a:stretch/>
        </p:blipFill>
        <p:spPr>
          <a:xfrm>
            <a:off x="8497124" y="2961718"/>
            <a:ext cx="2232995" cy="1113206"/>
          </a:xfrm>
          <a:prstGeom prst="rect">
            <a:avLst/>
          </a:prstGeom>
        </p:spPr>
      </p:pic>
      <p:pic>
        <p:nvPicPr>
          <p:cNvPr id="15" name="Image 14" descr="Une image contenant obscurité, noir, nuit&#10;&#10;Description générée automatiquement">
            <a:extLst>
              <a:ext uri="{FF2B5EF4-FFF2-40B4-BE49-F238E27FC236}">
                <a16:creationId xmlns:a16="http://schemas.microsoft.com/office/drawing/2014/main" id="{BED793FA-8DD3-5429-AC7E-2D5EBB9889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1" y="102349"/>
            <a:ext cx="1826058" cy="7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4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19" y="1268082"/>
            <a:ext cx="11683789" cy="4904117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2921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98210"/>
            <a:ext cx="6819565" cy="988645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9D8DAE4A-0E2A-8F00-271B-AF116512FE5E}"/>
              </a:ext>
            </a:extLst>
          </p:cNvPr>
          <p:cNvGrpSpPr/>
          <p:nvPr/>
        </p:nvGrpSpPr>
        <p:grpSpPr>
          <a:xfrm>
            <a:off x="0" y="-16976"/>
            <a:ext cx="12192000" cy="1501755"/>
            <a:chOff x="0" y="-1"/>
            <a:chExt cx="7315200" cy="1216153"/>
          </a:xfrm>
        </p:grpSpPr>
        <p:sp>
          <p:nvSpPr>
            <p:cNvPr id="17" name="Rectangle 51">
              <a:extLst>
                <a:ext uri="{FF2B5EF4-FFF2-40B4-BE49-F238E27FC236}">
                  <a16:creationId xmlns:a16="http://schemas.microsoft.com/office/drawing/2014/main" id="{52710EB3-B158-B707-09DC-10D745FF2F7A}"/>
                </a:ext>
              </a:extLst>
            </p:cNvPr>
            <p:cNvSpPr/>
            <p:nvPr/>
          </p:nvSpPr>
          <p:spPr>
            <a:xfrm>
              <a:off x="0" y="-1"/>
              <a:ext cx="7315200" cy="1130373"/>
            </a:xfrm>
            <a:custGeom>
              <a:avLst/>
              <a:gdLst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0 w 7312660"/>
                <a:gd name="connsiteY3" fmla="*/ 1215390 h 1215390"/>
                <a:gd name="connsiteX4" fmla="*/ 0 w 7312660"/>
                <a:gd name="connsiteY4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67125 w 7312660"/>
                <a:gd name="connsiteY3" fmla="*/ 120967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129665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9525 w 7322185"/>
                <a:gd name="connsiteY0" fmla="*/ 0 h 1129665"/>
                <a:gd name="connsiteX1" fmla="*/ 7322185 w 7322185"/>
                <a:gd name="connsiteY1" fmla="*/ 0 h 1129665"/>
                <a:gd name="connsiteX2" fmla="*/ 7322185 w 7322185"/>
                <a:gd name="connsiteY2" fmla="*/ 1129665 h 1129665"/>
                <a:gd name="connsiteX3" fmla="*/ 3629025 w 7322185"/>
                <a:gd name="connsiteY3" fmla="*/ 733425 h 1129665"/>
                <a:gd name="connsiteX4" fmla="*/ 0 w 7322185"/>
                <a:gd name="connsiteY4" fmla="*/ 1091565 h 1129665"/>
                <a:gd name="connsiteX5" fmla="*/ 9525 w 7322185"/>
                <a:gd name="connsiteY5" fmla="*/ 0 h 1129665"/>
                <a:gd name="connsiteX0" fmla="*/ 0 w 7312660"/>
                <a:gd name="connsiteY0" fmla="*/ 0 h 1129665"/>
                <a:gd name="connsiteX1" fmla="*/ 7312660 w 7312660"/>
                <a:gd name="connsiteY1" fmla="*/ 0 h 1129665"/>
                <a:gd name="connsiteX2" fmla="*/ 7312660 w 7312660"/>
                <a:gd name="connsiteY2" fmla="*/ 1129665 h 1129665"/>
                <a:gd name="connsiteX3" fmla="*/ 3619500 w 7312660"/>
                <a:gd name="connsiteY3" fmla="*/ 733425 h 1129665"/>
                <a:gd name="connsiteX4" fmla="*/ 0 w 7312660"/>
                <a:gd name="connsiteY4" fmla="*/ 1091565 h 1129665"/>
                <a:gd name="connsiteX5" fmla="*/ 0 w 7312660"/>
                <a:gd name="connsiteY5" fmla="*/ 0 h 112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12660" h="1129665">
                  <a:moveTo>
                    <a:pt x="0" y="0"/>
                  </a:moveTo>
                  <a:lnTo>
                    <a:pt x="7312660" y="0"/>
                  </a:lnTo>
                  <a:lnTo>
                    <a:pt x="7312660" y="1129665"/>
                  </a:lnTo>
                  <a:lnTo>
                    <a:pt x="3619500" y="733425"/>
                  </a:lnTo>
                  <a:lnTo>
                    <a:pt x="0" y="109156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3DEF09-FE87-E26A-6F8D-0BED760E793C}"/>
                </a:ext>
              </a:extLst>
            </p:cNvPr>
            <p:cNvSpPr/>
            <p:nvPr/>
          </p:nvSpPr>
          <p:spPr>
            <a:xfrm>
              <a:off x="0" y="0"/>
              <a:ext cx="7315200" cy="1216152"/>
            </a:xfrm>
            <a:prstGeom prst="rect">
              <a:avLst/>
            </a:prstGeom>
            <a:blipFill>
              <a:blip r:embed="rId6"/>
              <a:stretch>
                <a:fillRect r="-757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</p:grpSp>
      <p:pic>
        <p:nvPicPr>
          <p:cNvPr id="19" name="Image 18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C489B5D8-4DDA-5174-FC5B-CC6B6DE6E4A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9" t="25116" r="22475" b="28119"/>
          <a:stretch/>
        </p:blipFill>
        <p:spPr>
          <a:xfrm>
            <a:off x="9004981" y="5063086"/>
            <a:ext cx="2232995" cy="1064602"/>
          </a:xfrm>
          <a:prstGeom prst="rect">
            <a:avLst/>
          </a:prstGeom>
        </p:spPr>
      </p:pic>
      <p:pic>
        <p:nvPicPr>
          <p:cNvPr id="20" name="Image 19" descr="Une image contenant obscurité, noir, nuit&#10;&#10;Description générée automatiquement">
            <a:extLst>
              <a:ext uri="{FF2B5EF4-FFF2-40B4-BE49-F238E27FC236}">
                <a16:creationId xmlns:a16="http://schemas.microsoft.com/office/drawing/2014/main" id="{4813944F-6589-2EFC-65D3-F8E24FA68F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1" y="102349"/>
            <a:ext cx="1826058" cy="7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419" y="1273776"/>
            <a:ext cx="5641675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73776"/>
            <a:ext cx="5855208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0571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8" y="1290684"/>
            <a:ext cx="5676182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793" y="2027037"/>
            <a:ext cx="5702807" cy="4149474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9313" y="1290684"/>
            <a:ext cx="5841895" cy="640080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9313" y="2027035"/>
            <a:ext cx="5841894" cy="4149475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7272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6012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69231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345058"/>
            <a:ext cx="3200400" cy="1138686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19" y="345057"/>
            <a:ext cx="7840262" cy="5884624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 sz="2000"/>
            </a:lvl1pPr>
            <a:lvl2pPr marL="457200" indent="-182880">
              <a:buFont typeface="Wingdings" panose="05000000000000000000" pitchFamily="2" charset="2"/>
              <a:buChar char="v"/>
              <a:defRPr sz="1800"/>
            </a:lvl2pPr>
            <a:lvl3pPr marL="731520" indent="-182880">
              <a:buFont typeface="Wingdings" panose="05000000000000000000" pitchFamily="2" charset="2"/>
              <a:buChar char="v"/>
              <a:defRPr sz="1600"/>
            </a:lvl3pPr>
            <a:lvl4pPr marL="1005840" indent="-182880">
              <a:buFont typeface="Wingdings" panose="05000000000000000000" pitchFamily="2" charset="2"/>
              <a:buChar char="v"/>
              <a:defRPr sz="1600"/>
            </a:lvl4pPr>
            <a:lvl5pPr marL="1280160" indent="-182880">
              <a:buFont typeface="Wingdings" panose="05000000000000000000" pitchFamily="2" charset="2"/>
              <a:buChar char="v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1526847"/>
            <a:ext cx="3200400" cy="41881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7757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220092"/>
            <a:ext cx="3200400" cy="106007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A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1323265"/>
            <a:ext cx="3200400" cy="43917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93016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7389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82686" y="220091"/>
            <a:ext cx="1668521" cy="5952109"/>
          </a:xfrm>
        </p:spPr>
        <p:txBody>
          <a:bodyPr vert="eaVert"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419" y="220091"/>
            <a:ext cx="10015267" cy="5952109"/>
          </a:xfrm>
        </p:spPr>
        <p:txBody>
          <a:bodyPr vert="eaVert"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299502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419" y="1273776"/>
            <a:ext cx="5641675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73776"/>
            <a:ext cx="5855208" cy="4898424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615578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419" y="1268082"/>
            <a:ext cx="11683789" cy="4904117"/>
          </a:xfrm>
        </p:spPr>
        <p:txBody>
          <a:bodyPr/>
          <a:lstStyle>
            <a:lvl1pPr marL="182880" indent="-182880">
              <a:buFont typeface="Wingdings" panose="05000000000000000000" pitchFamily="2" charset="2"/>
              <a:buChar char="v"/>
              <a:defRPr/>
            </a:lvl1pPr>
            <a:lvl2pPr marL="457200" indent="-182880">
              <a:buFont typeface="Wingdings" panose="05000000000000000000" pitchFamily="2" charset="2"/>
              <a:buChar char="v"/>
              <a:defRPr/>
            </a:lvl2pPr>
            <a:lvl3pPr marL="731520" indent="-182880">
              <a:buFont typeface="Wingdings" panose="05000000000000000000" pitchFamily="2" charset="2"/>
              <a:buChar char="v"/>
              <a:defRPr/>
            </a:lvl3pPr>
            <a:lvl4pPr marL="1005840" indent="-182880">
              <a:buFont typeface="Wingdings" panose="05000000000000000000" pitchFamily="2" charset="2"/>
              <a:buChar char="v"/>
              <a:defRPr/>
            </a:lvl4pPr>
            <a:lvl5pPr marL="1280160" indent="-182880">
              <a:buFont typeface="Wingdings" panose="05000000000000000000" pitchFamily="2" charset="2"/>
              <a:buChar char="v"/>
              <a:defRPr/>
            </a:lvl5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8420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CA"/>
              <a:t>Modifier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98210"/>
            <a:ext cx="6819565" cy="988645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9D8DAE4A-0E2A-8F00-271B-AF116512FE5E}"/>
              </a:ext>
            </a:extLst>
          </p:cNvPr>
          <p:cNvGrpSpPr/>
          <p:nvPr/>
        </p:nvGrpSpPr>
        <p:grpSpPr>
          <a:xfrm>
            <a:off x="0" y="-16976"/>
            <a:ext cx="12192000" cy="1501755"/>
            <a:chOff x="0" y="-1"/>
            <a:chExt cx="7315200" cy="1216153"/>
          </a:xfrm>
        </p:grpSpPr>
        <p:sp>
          <p:nvSpPr>
            <p:cNvPr id="17" name="Rectangle 51">
              <a:extLst>
                <a:ext uri="{FF2B5EF4-FFF2-40B4-BE49-F238E27FC236}">
                  <a16:creationId xmlns:a16="http://schemas.microsoft.com/office/drawing/2014/main" id="{52710EB3-B158-B707-09DC-10D745FF2F7A}"/>
                </a:ext>
              </a:extLst>
            </p:cNvPr>
            <p:cNvSpPr/>
            <p:nvPr/>
          </p:nvSpPr>
          <p:spPr>
            <a:xfrm>
              <a:off x="0" y="-1"/>
              <a:ext cx="7315200" cy="1130373"/>
            </a:xfrm>
            <a:custGeom>
              <a:avLst/>
              <a:gdLst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0 w 7312660"/>
                <a:gd name="connsiteY3" fmla="*/ 1215390 h 1215390"/>
                <a:gd name="connsiteX4" fmla="*/ 0 w 7312660"/>
                <a:gd name="connsiteY4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67125 w 7312660"/>
                <a:gd name="connsiteY3" fmla="*/ 120967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215390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0 w 7312660"/>
                <a:gd name="connsiteY0" fmla="*/ 0 h 1215390"/>
                <a:gd name="connsiteX1" fmla="*/ 7312660 w 7312660"/>
                <a:gd name="connsiteY1" fmla="*/ 0 h 1215390"/>
                <a:gd name="connsiteX2" fmla="*/ 7312660 w 7312660"/>
                <a:gd name="connsiteY2" fmla="*/ 1129665 h 1215390"/>
                <a:gd name="connsiteX3" fmla="*/ 3619500 w 7312660"/>
                <a:gd name="connsiteY3" fmla="*/ 733425 h 1215390"/>
                <a:gd name="connsiteX4" fmla="*/ 0 w 7312660"/>
                <a:gd name="connsiteY4" fmla="*/ 1215390 h 1215390"/>
                <a:gd name="connsiteX5" fmla="*/ 0 w 7312660"/>
                <a:gd name="connsiteY5" fmla="*/ 0 h 1215390"/>
                <a:gd name="connsiteX0" fmla="*/ 9525 w 7322185"/>
                <a:gd name="connsiteY0" fmla="*/ 0 h 1129665"/>
                <a:gd name="connsiteX1" fmla="*/ 7322185 w 7322185"/>
                <a:gd name="connsiteY1" fmla="*/ 0 h 1129665"/>
                <a:gd name="connsiteX2" fmla="*/ 7322185 w 7322185"/>
                <a:gd name="connsiteY2" fmla="*/ 1129665 h 1129665"/>
                <a:gd name="connsiteX3" fmla="*/ 3629025 w 7322185"/>
                <a:gd name="connsiteY3" fmla="*/ 733425 h 1129665"/>
                <a:gd name="connsiteX4" fmla="*/ 0 w 7322185"/>
                <a:gd name="connsiteY4" fmla="*/ 1091565 h 1129665"/>
                <a:gd name="connsiteX5" fmla="*/ 9525 w 7322185"/>
                <a:gd name="connsiteY5" fmla="*/ 0 h 1129665"/>
                <a:gd name="connsiteX0" fmla="*/ 0 w 7312660"/>
                <a:gd name="connsiteY0" fmla="*/ 0 h 1129665"/>
                <a:gd name="connsiteX1" fmla="*/ 7312660 w 7312660"/>
                <a:gd name="connsiteY1" fmla="*/ 0 h 1129665"/>
                <a:gd name="connsiteX2" fmla="*/ 7312660 w 7312660"/>
                <a:gd name="connsiteY2" fmla="*/ 1129665 h 1129665"/>
                <a:gd name="connsiteX3" fmla="*/ 3619500 w 7312660"/>
                <a:gd name="connsiteY3" fmla="*/ 733425 h 1129665"/>
                <a:gd name="connsiteX4" fmla="*/ 0 w 7312660"/>
                <a:gd name="connsiteY4" fmla="*/ 1091565 h 1129665"/>
                <a:gd name="connsiteX5" fmla="*/ 0 w 7312660"/>
                <a:gd name="connsiteY5" fmla="*/ 0 h 1129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12660" h="1129665">
                  <a:moveTo>
                    <a:pt x="0" y="0"/>
                  </a:moveTo>
                  <a:lnTo>
                    <a:pt x="7312660" y="0"/>
                  </a:lnTo>
                  <a:lnTo>
                    <a:pt x="7312660" y="1129665"/>
                  </a:lnTo>
                  <a:lnTo>
                    <a:pt x="3619500" y="733425"/>
                  </a:lnTo>
                  <a:lnTo>
                    <a:pt x="0" y="109156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3DEF09-FE87-E26A-6F8D-0BED760E793C}"/>
                </a:ext>
              </a:extLst>
            </p:cNvPr>
            <p:cNvSpPr/>
            <p:nvPr/>
          </p:nvSpPr>
          <p:spPr>
            <a:xfrm>
              <a:off x="0" y="0"/>
              <a:ext cx="7315200" cy="1216152"/>
            </a:xfrm>
            <a:prstGeom prst="rect">
              <a:avLst/>
            </a:prstGeom>
            <a:blipFill>
              <a:blip r:embed="rId6"/>
              <a:stretch>
                <a:fillRect r="-757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CA"/>
            </a:p>
          </p:txBody>
        </p:sp>
      </p:grpSp>
      <p:pic>
        <p:nvPicPr>
          <p:cNvPr id="19" name="Image 18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C489B5D8-4DDA-5174-FC5B-CC6B6DE6E4A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9" t="25116" r="22475" b="28119"/>
          <a:stretch/>
        </p:blipFill>
        <p:spPr>
          <a:xfrm>
            <a:off x="9004981" y="5063086"/>
            <a:ext cx="2232995" cy="1064602"/>
          </a:xfrm>
          <a:prstGeom prst="rect">
            <a:avLst/>
          </a:prstGeom>
        </p:spPr>
      </p:pic>
      <p:pic>
        <p:nvPicPr>
          <p:cNvPr id="20" name="Image 19" descr="Une image contenant obscurité, noir, nuit&#10;&#10;Description générée automatiquement">
            <a:extLst>
              <a:ext uri="{FF2B5EF4-FFF2-40B4-BE49-F238E27FC236}">
                <a16:creationId xmlns:a16="http://schemas.microsoft.com/office/drawing/2014/main" id="{4813944F-6589-2EFC-65D3-F8E24FA68F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31" y="102349"/>
            <a:ext cx="1826058" cy="72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6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419" y="293298"/>
            <a:ext cx="11683789" cy="879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9" y="1285336"/>
            <a:ext cx="11683789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5344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419" y="293298"/>
            <a:ext cx="11683789" cy="8798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419" y="1285336"/>
            <a:ext cx="11683789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0B97095-F52B-4C1F-8A8E-94270EA9AD4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6492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 cap="all" baseline="0"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anose="05000000000000000000" pitchFamily="2" charset="2"/>
        <a:buChar char="v"/>
        <a:defRPr sz="1600" kern="1200">
          <a:solidFill>
            <a:schemeClr val="tx1"/>
          </a:solidFill>
          <a:latin typeface="Arial" panose="020B0604020202020204" pitchFamily="34" charset="0"/>
          <a:ea typeface="Calibri" panose="020F0502020204030204" pitchFamily="34" charset="0"/>
          <a:cs typeface="Arial" panose="020B0604020202020204" pitchFamily="34" charset="0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mglbz1NvMU&amp;list=PL7dWCSr88NFTYThb2W9lvMVJgGdga1xWh&amp;index=5" TargetMode="External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Qmglbz1NvMU?list=PL7dWCSr88NFTYThb2W9lvMVJgGdga1xWh" TargetMode="External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E329C3-20B8-5921-8BF1-6B1A4DD310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Initiation à la profession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B123608-6A5A-EC06-7525-69C59E2A67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420-0Q4-SW</a:t>
            </a:r>
          </a:p>
          <a:p>
            <a:r>
              <a:rPr lang="fr-CA" b="1" dirty="0"/>
              <a:t>Tableurs (Excel, partie 2)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275C57B-0B63-31D8-63FF-AD37F431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993705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1B03349-9796-8555-92C1-C9DE310A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Tableau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9FCDAEF-60DA-3728-27BB-A0B336C7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5461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0C7E1553-2307-08CE-B5DE-9A984105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Créer et mettre en forme un tableau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79E7188-25E4-D3DB-0F3F-FD36A93F0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Insertion </a:t>
            </a:r>
            <a:r>
              <a:rPr lang="fr-CA" dirty="0">
                <a:sym typeface="Wingdings" panose="05000000000000000000" pitchFamily="2" charset="2"/>
              </a:rPr>
              <a:t> Tableau</a:t>
            </a:r>
          </a:p>
          <a:p>
            <a:pPr lvl="1"/>
            <a:r>
              <a:rPr lang="fr-CA" b="1" dirty="0">
                <a:solidFill>
                  <a:srgbClr val="FF0000"/>
                </a:solidFill>
                <a:sym typeface="Wingdings" panose="05000000000000000000" pitchFamily="2" charset="2"/>
              </a:rPr>
              <a:t>Mon tableau comporte des en-têtes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Nouveau menu  « Création de tableau »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Définir les styles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De couleur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De données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110B76-8CB7-9A21-F325-17C1BAE1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3</a:t>
            </a:fld>
            <a:endParaRPr lang="fr-CA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FE75EF9-66DF-C24C-25F6-BA2688BCD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4407"/>
            <a:ext cx="12192000" cy="102779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4A75476-0184-CC41-FE35-1F7445E6AE65}"/>
              </a:ext>
            </a:extLst>
          </p:cNvPr>
          <p:cNvSpPr txBox="1"/>
          <p:nvPr/>
        </p:nvSpPr>
        <p:spPr>
          <a:xfrm>
            <a:off x="9680896" y="4541939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/>
              <a:t>Couleur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DC4AC53-29B4-C42E-547E-F0D44F8FA4DB}"/>
              </a:ext>
            </a:extLst>
          </p:cNvPr>
          <p:cNvSpPr txBox="1"/>
          <p:nvPr/>
        </p:nvSpPr>
        <p:spPr>
          <a:xfrm>
            <a:off x="6109313" y="4541939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/>
              <a:t>Données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183A07F-06DA-45EA-1A09-0E32F5F9D510}"/>
              </a:ext>
            </a:extLst>
          </p:cNvPr>
          <p:cNvCxnSpPr>
            <a:stCxn id="10" idx="2"/>
          </p:cNvCxnSpPr>
          <p:nvPr/>
        </p:nvCxnSpPr>
        <p:spPr>
          <a:xfrm>
            <a:off x="6671326" y="4911271"/>
            <a:ext cx="0" cy="4660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533CD5B-DDB5-1B51-E290-2ED3FE20564F}"/>
              </a:ext>
            </a:extLst>
          </p:cNvPr>
          <p:cNvCxnSpPr/>
          <p:nvPr/>
        </p:nvCxnSpPr>
        <p:spPr>
          <a:xfrm>
            <a:off x="10205238" y="4911271"/>
            <a:ext cx="0" cy="4660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757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F1773D-3691-1E3E-B70B-82CED43B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Trier un tableau / Rechercher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4C610-1C4E-2D8B-F383-733AD3F36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« Bouton de filtre » dans les options de style</a:t>
            </a:r>
          </a:p>
          <a:p>
            <a:endParaRPr lang="fr-CA" dirty="0"/>
          </a:p>
          <a:p>
            <a:r>
              <a:rPr lang="fr-CA" dirty="0"/>
              <a:t>Accueil </a:t>
            </a:r>
            <a:r>
              <a:rPr lang="fr-CA" dirty="0">
                <a:sym typeface="Wingdings" panose="05000000000000000000" pitchFamily="2" charset="2"/>
              </a:rPr>
              <a:t> Rechercher et sélectionner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Équivalent de « </a:t>
            </a:r>
            <a:r>
              <a:rPr lang="fr-CA" b="1" dirty="0">
                <a:solidFill>
                  <a:srgbClr val="FF0000"/>
                </a:solidFill>
                <a:sym typeface="Wingdings" panose="05000000000000000000" pitchFamily="2" charset="2"/>
              </a:rPr>
              <a:t>CTRL + F </a:t>
            </a:r>
            <a:r>
              <a:rPr lang="fr-CA" dirty="0">
                <a:sym typeface="Wingdings" panose="05000000000000000000" pitchFamily="2" charset="2"/>
              </a:rPr>
              <a:t>» sur le clavier</a:t>
            </a:r>
            <a:endParaRPr lang="fr-CA" dirty="0"/>
          </a:p>
          <a:p>
            <a:endParaRPr lang="fr-CA" dirty="0"/>
          </a:p>
          <a:p>
            <a:r>
              <a:rPr lang="fr-CA" dirty="0"/>
              <a:t>Accueil </a:t>
            </a:r>
            <a:r>
              <a:rPr lang="fr-CA" dirty="0">
                <a:sym typeface="Wingdings" panose="05000000000000000000" pitchFamily="2" charset="2"/>
              </a:rPr>
              <a:t> Édition  Trier et filtrer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Tris simples  A à Z ou Z à A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Plusieurs niveaux  tri personnalisé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DD34C7-4F44-1049-4896-FDB6DFAF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4</a:t>
            </a:fld>
            <a:endParaRPr lang="fr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B12D8FF-26A1-3508-77C8-3DAB896C6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269" y="1745870"/>
            <a:ext cx="5121084" cy="20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38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6.1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9A264B53-16C0-B947-03E1-C09804A2703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146" r="1146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5D1F8-872B-6AE3-FEAC-FB27C12CC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49640" y="1323265"/>
            <a:ext cx="3531198" cy="439173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Ouvrir votre fichier Excel 5-Exercices que vous avez fait précédemment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Trouver comment copier la feuille 5.9 vers un nouveau fichier Excel que vous appellerez « 6-Exercices » et dont la première feuille sera nommée « 6.1 ».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Transformer la plage A1:E7 en tableau.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Avec la ligne d’en-tête.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Les calculs de la ligne 8 doivent être transférés sous le format de « ligne de total » du tableau.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Désactiver l’option « bouton de filtres ».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03083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6.2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924EB3A8-3B88-0902-4CC7-C476043F2AF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5400" r="5400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5D1F8-872B-6AE3-FEAC-FB27C12CC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Dupliquer la feuille « 6.1 » et renommez la nouvelle « 6.2 ».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Ajouter un premier filtre pour ne voir que les lignes de succès non achevés (colonne X vide).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Ajouter un 2</a:t>
            </a:r>
            <a:r>
              <a:rPr lang="fr-CA" baseline="30000" dirty="0"/>
              <a:t>e</a:t>
            </a:r>
            <a:r>
              <a:rPr lang="fr-CA" dirty="0"/>
              <a:t> niveau de filtre pour ne voir que ceux qui ont 10 points.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22081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3F222B-BAF6-5B01-D434-512F1BD9B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6.3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E6E6390D-6F2C-BB7A-ACB2-E766C36B5D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843" r="2843"/>
          <a:stretch/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609739-2CB9-53A1-375A-7F02ACED5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Dupliquer la feuille « 6.1 » et renommez la nouvelle « 6.3 ».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Ajouter un premier niveau de tri sur la colonne A : le tri doit être en ordre alphabétique inversé donc de Z à A.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Ajouter un 2</a:t>
            </a:r>
            <a:r>
              <a:rPr lang="fr-CA" baseline="30000" dirty="0"/>
              <a:t>e</a:t>
            </a:r>
            <a:r>
              <a:rPr lang="fr-CA" dirty="0"/>
              <a:t> niveau de tri sur la colonne de points en ordre croissant.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Le 2</a:t>
            </a:r>
            <a:r>
              <a:rPr lang="fr-CA" baseline="30000" dirty="0"/>
              <a:t>e</a:t>
            </a:r>
            <a:r>
              <a:rPr lang="fr-CA" dirty="0"/>
              <a:t> tri ne doit pas effacer le premier.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2022E0-267D-9C0B-00B8-75A3CD8B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7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27794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1B03349-9796-8555-92C1-C9DE310A8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Graphiques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9FCDAEF-60DA-3728-27BB-A0B336C7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8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2857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28A8C1-B326-BB7A-2EDF-B4A660E4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Concevoir un graphique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03EF83-A7F2-013D-5B2D-388ABEB67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fr-CA" dirty="0"/>
              <a:t>Prendre en compte?</a:t>
            </a:r>
          </a:p>
          <a:p>
            <a:pPr lvl="1">
              <a:lnSpc>
                <a:spcPct val="90000"/>
              </a:lnSpc>
            </a:pPr>
            <a:r>
              <a:rPr lang="fr-CA" dirty="0"/>
              <a:t>Objectif du graphique?</a:t>
            </a:r>
          </a:p>
          <a:p>
            <a:pPr lvl="1">
              <a:lnSpc>
                <a:spcPct val="90000"/>
              </a:lnSpc>
            </a:pPr>
            <a:r>
              <a:rPr lang="fr-CA" dirty="0"/>
              <a:t>Résultats désirés </a:t>
            </a:r>
            <a:r>
              <a:rPr lang="fr-CA" dirty="0">
                <a:sym typeface="Wingdings" panose="05000000000000000000" pitchFamily="2" charset="2"/>
              </a:rPr>
              <a:t> </a:t>
            </a:r>
            <a:r>
              <a:rPr lang="fr-CA" dirty="0"/>
              <a:t>type de graphique le mieux adapté?</a:t>
            </a:r>
          </a:p>
          <a:p>
            <a:pPr lvl="1">
              <a:lnSpc>
                <a:spcPct val="90000"/>
              </a:lnSpc>
            </a:pPr>
            <a:r>
              <a:rPr lang="fr-CA" dirty="0"/>
              <a:t>Identifier les données de la feuille à illustrer</a:t>
            </a:r>
          </a:p>
          <a:p>
            <a:pPr lvl="1">
              <a:lnSpc>
                <a:spcPct val="90000"/>
              </a:lnSpc>
            </a:pPr>
            <a:r>
              <a:rPr lang="fr-CA" dirty="0"/>
              <a:t>Où placer les éléments du graphique?</a:t>
            </a:r>
          </a:p>
          <a:p>
            <a:pPr lvl="2">
              <a:lnSpc>
                <a:spcPct val="90000"/>
              </a:lnSpc>
            </a:pPr>
            <a:r>
              <a:rPr lang="fr-CA" dirty="0"/>
              <a:t>Par exemple, ce qu'il y aura sur l’axe des X et des Y</a:t>
            </a:r>
          </a:p>
          <a:p>
            <a:endParaRPr lang="fr-CA" dirty="0"/>
          </a:p>
          <a:p>
            <a:r>
              <a:rPr lang="fr-CA" dirty="0"/>
              <a:t>Éléments du graphique</a:t>
            </a:r>
          </a:p>
          <a:p>
            <a:pPr lvl="1"/>
            <a:r>
              <a:rPr lang="fr-CA" sz="1700" dirty="0"/>
              <a:t>Axe horizontal (des X, des abscisses): </a:t>
            </a:r>
          </a:p>
          <a:p>
            <a:pPr lvl="2"/>
            <a:r>
              <a:rPr lang="fr-CA" sz="1500" dirty="0"/>
              <a:t>Contient généralement les noms des catégories de données </a:t>
            </a:r>
          </a:p>
          <a:p>
            <a:pPr lvl="1"/>
            <a:r>
              <a:rPr lang="fr-CA" sz="1700" dirty="0"/>
              <a:t>Axe vertical (des Y, des coordonnées):</a:t>
            </a:r>
          </a:p>
          <a:p>
            <a:pPr lvl="2"/>
            <a:r>
              <a:rPr lang="fr-CA" sz="1500" dirty="0"/>
              <a:t>Contient généralement les valeurs numériques.</a:t>
            </a:r>
          </a:p>
          <a:p>
            <a:pPr lvl="1"/>
            <a:r>
              <a:rPr lang="fr-CA" sz="1700" dirty="0"/>
              <a:t>Point de données:</a:t>
            </a:r>
          </a:p>
          <a:p>
            <a:pPr lvl="2"/>
            <a:r>
              <a:rPr lang="fr-CA" sz="1500" dirty="0"/>
              <a:t>Chaque valeur d’une cellule affichée dans le graphique est un point de données.</a:t>
            </a:r>
          </a:p>
          <a:p>
            <a:pPr lvl="1"/>
            <a:r>
              <a:rPr lang="fr-CA" sz="1700" dirty="0"/>
              <a:t>Séries de données </a:t>
            </a:r>
          </a:p>
          <a:p>
            <a:pPr lvl="2"/>
            <a:r>
              <a:rPr lang="fr-CA" sz="1500" dirty="0"/>
              <a:t>Ensemble de valeurs liées logiquement</a:t>
            </a:r>
          </a:p>
          <a:p>
            <a:pPr lvl="1"/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149247-28A1-209E-B336-BB355CBE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9</a:t>
            </a:fld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0CBA2A6-4469-1F7C-7DE7-2655D01B7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230" y="1167497"/>
            <a:ext cx="5984347" cy="359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8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11CDE2-6868-52CC-ED8B-7ABACE8E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Tableau croisé dynamique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D7EF94-F39B-4A10-5634-5A65614EF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Permet de créer des graphiques sur des champs calculé</a:t>
            </a:r>
          </a:p>
          <a:p>
            <a:pPr lvl="1"/>
            <a:r>
              <a:rPr lang="fr-CA" dirty="0"/>
              <a:t>Regroupé par thèmes et avoir des sommes / moyennes / etc.</a:t>
            </a:r>
          </a:p>
          <a:p>
            <a:endParaRPr lang="fr-CA" dirty="0"/>
          </a:p>
          <a:p>
            <a:r>
              <a:rPr lang="fr-CA" dirty="0"/>
              <a:t>À partir d’une plage de champs / tableau</a:t>
            </a:r>
          </a:p>
          <a:p>
            <a:endParaRPr lang="fr-CA" dirty="0"/>
          </a:p>
          <a:p>
            <a:r>
              <a:rPr lang="fr-CA" dirty="0"/>
              <a:t>Gérée via l’assistant </a:t>
            </a:r>
            <a:r>
              <a:rPr lang="fr-CA" dirty="0">
                <a:sym typeface="Wingdings" panose="05000000000000000000" pitchFamily="2" charset="2"/>
              </a:rPr>
              <a:t> image pour générer avant de compléter 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00B1DC-4FEC-F5CA-EFCA-A28744B5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10</a:t>
            </a:fld>
            <a:endParaRPr lang="fr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5C43A06-4850-4699-C35B-17DABBBD5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88" y="3752761"/>
            <a:ext cx="3977985" cy="243861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890CD16-507D-F1DA-444A-0669FBFD7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45" y="3752761"/>
            <a:ext cx="1787135" cy="250084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B8941F7-F529-0813-BF01-1F16843FF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716" y="220091"/>
            <a:ext cx="2957492" cy="568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9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C046E7-F8A3-CA84-49C9-6FFD7795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Configuration du graphique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3A850F-D194-AB68-AF15-2075AB8F3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Conception de la carte (ou Création de graphique)</a:t>
            </a:r>
          </a:p>
          <a:p>
            <a:pPr lvl="1"/>
            <a:r>
              <a:rPr lang="fr-CA" dirty="0"/>
              <a:t>Modification </a:t>
            </a:r>
            <a:r>
              <a:rPr lang="fr-CA" u="sng" dirty="0"/>
              <a:t>rapide</a:t>
            </a:r>
            <a:r>
              <a:rPr lang="fr-CA" dirty="0"/>
              <a:t> </a:t>
            </a:r>
          </a:p>
          <a:p>
            <a:pPr lvl="2"/>
            <a:r>
              <a:rPr lang="fr-CA" dirty="0"/>
              <a:t>Du type de graphique</a:t>
            </a:r>
          </a:p>
          <a:p>
            <a:pPr lvl="2"/>
            <a:r>
              <a:rPr lang="fr-CA" dirty="0"/>
              <a:t>De l’aspect du graphique</a:t>
            </a:r>
          </a:p>
          <a:p>
            <a:pPr lvl="2"/>
            <a:r>
              <a:rPr lang="fr-CA" dirty="0"/>
              <a:t>De la mise en forme</a:t>
            </a:r>
          </a:p>
          <a:p>
            <a:pPr lvl="1"/>
            <a:r>
              <a:rPr lang="fr-CA" dirty="0"/>
              <a:t>Intervertir les données entre colonnes/lignes</a:t>
            </a:r>
          </a:p>
          <a:p>
            <a:pPr lvl="1"/>
            <a:r>
              <a:rPr lang="fr-CA" dirty="0"/>
              <a:t>Sélectionner une autre plage de données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Mise en forme</a:t>
            </a:r>
          </a:p>
          <a:p>
            <a:pPr lvl="1"/>
            <a:r>
              <a:rPr lang="fr-CA" dirty="0"/>
              <a:t>Tous les éléments de mise en forme</a:t>
            </a:r>
          </a:p>
          <a:p>
            <a:pPr lvl="1"/>
            <a:r>
              <a:rPr lang="fr-CA" dirty="0"/>
              <a:t>Autre alternative en cliquant sur le graphique</a:t>
            </a:r>
          </a:p>
          <a:p>
            <a:pPr lvl="1"/>
            <a:endParaRPr lang="fr-CA" dirty="0"/>
          </a:p>
          <a:p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8B6B4E-D981-8C26-D83C-06AD949E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11</a:t>
            </a:fld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F4004FC-CA64-0556-373E-A6EB928C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211" y="1423447"/>
            <a:ext cx="4996370" cy="12891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2D2752E-5497-77E4-6ED3-D6F293F16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617" y="3955728"/>
            <a:ext cx="2992872" cy="16710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C162FFB-7FBC-EAB1-89FA-EB77DEB78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204" y="3955728"/>
            <a:ext cx="2661436" cy="21259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6276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94ED625-1130-B7E2-7EFD-BEF37A94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Types de graphiques</a:t>
            </a:r>
          </a:p>
        </p:txBody>
      </p:sp>
      <p:graphicFrame>
        <p:nvGraphicFramePr>
          <p:cNvPr id="10" name="Tableau 4">
            <a:extLst>
              <a:ext uri="{FF2B5EF4-FFF2-40B4-BE49-F238E27FC236}">
                <a16:creationId xmlns:a16="http://schemas.microsoft.com/office/drawing/2014/main" id="{616A6EE7-63F6-CB25-FEB6-51C9B590AF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016219"/>
              </p:ext>
            </p:extLst>
          </p:nvPr>
        </p:nvGraphicFramePr>
        <p:xfrm>
          <a:off x="266700" y="1268413"/>
          <a:ext cx="11683789" cy="4776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121">
                  <a:extLst>
                    <a:ext uri="{9D8B030D-6E8A-4147-A177-3AD203B41FA5}">
                      <a16:colId xmlns:a16="http://schemas.microsoft.com/office/drawing/2014/main" val="1520068386"/>
                    </a:ext>
                  </a:extLst>
                </a:gridCol>
                <a:gridCol w="6741924">
                  <a:extLst>
                    <a:ext uri="{9D8B030D-6E8A-4147-A177-3AD203B41FA5}">
                      <a16:colId xmlns:a16="http://schemas.microsoft.com/office/drawing/2014/main" val="1751481494"/>
                    </a:ext>
                  </a:extLst>
                </a:gridCol>
                <a:gridCol w="3288744">
                  <a:extLst>
                    <a:ext uri="{9D8B030D-6E8A-4147-A177-3AD203B41FA5}">
                      <a16:colId xmlns:a16="http://schemas.microsoft.com/office/drawing/2014/main" val="2003512869"/>
                    </a:ext>
                  </a:extLst>
                </a:gridCol>
              </a:tblGrid>
              <a:tr h="466119"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4785488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Histogramme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Affiche les valeurs de données sous forme de colonnes; la hauteur de la colonne représente sa valeur.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42866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Courbes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Affiche les données sur des courbes distinctes selon les catégories.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097148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Secteurs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Affiche sous forme de disque découpé en tranches les valeurs comme des pourcentages d’un tout.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6064419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Histogramme couché à l’horizontale où la longueur de chaque barre représente sa valeur.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943298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Montre comment les quantités évoluent dans le temps par rapport aux quantités totales.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55272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Nuage de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CA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 les tendances au fil du temps en montrant les marques de données correspondant aux données de la feuille de calcul.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CA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50633"/>
                  </a:ext>
                </a:extLst>
              </a:tr>
            </a:tbl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B8F037-5C41-96A0-CDFE-458AACBC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12</a:t>
            </a:fld>
            <a:endParaRPr lang="fr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147A7C6-51F7-7CC7-2A45-F0982B6A7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739" y="1777030"/>
            <a:ext cx="1647825" cy="61912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D26588F-7466-BA3E-C3B3-E2AA32A8A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739" y="2542937"/>
            <a:ext cx="2647950" cy="55245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F6F2594-E77D-53F3-649B-C635221B4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514" y="3257258"/>
            <a:ext cx="1676400" cy="55245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645AF15-C396-700C-0027-2CCCBDE17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2039" y="3971579"/>
            <a:ext cx="1666875" cy="55245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D92D1F2-8F26-BA4C-FBF6-C34F223B63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1564" y="4686424"/>
            <a:ext cx="1657350" cy="55245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DEC87E1-C835-2F2A-DBA3-010C09D1E0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4221" y="5427246"/>
            <a:ext cx="160020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7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6.4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5D1F8-872B-6AE3-FEAC-FB27C12CC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>
                <a:solidFill>
                  <a:schemeClr val="tx1"/>
                </a:solidFill>
              </a:rPr>
              <a:t>Récupérer le </a:t>
            </a:r>
            <a:r>
              <a:rPr lang="fr-CA">
                <a:solidFill>
                  <a:schemeClr val="tx1"/>
                </a:solidFill>
              </a:rPr>
              <a:t>fichier Achievements</a:t>
            </a:r>
            <a:r>
              <a:rPr lang="fr-CA" dirty="0">
                <a:solidFill>
                  <a:schemeClr val="tx1"/>
                </a:solidFill>
              </a:rPr>
              <a:t>.txt sur </a:t>
            </a:r>
            <a:r>
              <a:rPr lang="fr-CA" dirty="0" err="1">
                <a:solidFill>
                  <a:schemeClr val="tx1"/>
                </a:solidFill>
              </a:rPr>
              <a:t>github</a:t>
            </a:r>
            <a:r>
              <a:rPr lang="fr-CA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>
                <a:solidFill>
                  <a:schemeClr val="tx1"/>
                </a:solidFill>
              </a:rPr>
              <a:t>Trouver comment les données du fichier txt dans une nouvelle feuille « 6.4 »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>
                <a:solidFill>
                  <a:schemeClr val="tx1"/>
                </a:solidFill>
              </a:rPr>
              <a:t>Généré un graphique de secteur basé sur le nombre de points par Jeux.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Indice : Créez un nouveau tableau comprenant les informations voulues condensées.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CA" dirty="0"/>
              <a:t>Indice 2 : Triez votre tableau en ordre alphabétique pour que la légende soit en ordre.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>
                <a:solidFill>
                  <a:schemeClr val="tx1"/>
                </a:solidFill>
              </a:rPr>
              <a:t>Modifier le visuel du graphique pour vous rapprocher le plus près possible du résultat.</a:t>
            </a:r>
          </a:p>
          <a:p>
            <a:pPr marL="342900" indent="-342900">
              <a:buFont typeface="+mj-lt"/>
              <a:buAutoNum type="arabicPeriod"/>
            </a:pPr>
            <a:endParaRPr lang="fr-CA" dirty="0">
              <a:solidFill>
                <a:schemeClr val="tx1"/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13</a:t>
            </a:fld>
            <a:endParaRPr lang="fr-CA" dirty="0"/>
          </a:p>
        </p:txBody>
      </p:sp>
      <p:pic>
        <p:nvPicPr>
          <p:cNvPr id="15" name="Espace réservé pour une image  14" descr="Une image contenant texte, capture d’écran, diagramme, Caractère coloré&#10;&#10;Description générée automatiquement">
            <a:extLst>
              <a:ext uri="{FF2B5EF4-FFF2-40B4-BE49-F238E27FC236}">
                <a16:creationId xmlns:a16="http://schemas.microsoft.com/office/drawing/2014/main" id="{2DE1A3BB-4C64-4E88-F1AB-0CFCF904B1C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5" r="1277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58777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6.5 :</a:t>
            </a:r>
            <a:br>
              <a:rPr lang="fr-CA" dirty="0"/>
            </a:br>
            <a:r>
              <a:rPr lang="fr-CA" dirty="0"/>
              <a:t>Reproduire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C6974D0D-9263-FA2B-7B66-AD85E47222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l="244" t="-11658" r="-122" b="-8501"/>
          <a:stretch/>
        </p:blipFill>
        <p:spPr>
          <a:xfrm>
            <a:off x="-570368" y="0"/>
            <a:ext cx="8874108" cy="6858000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55D1F8-872B-6AE3-FEAC-FB27C12CC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fr-CA" dirty="0"/>
              <a:t>À partir des données du fichier texte, générez un graphique de type histogramme.</a:t>
            </a:r>
          </a:p>
          <a:p>
            <a:pPr marL="342900" indent="-342900">
              <a:buFont typeface="+mj-lt"/>
              <a:buAutoNum type="arabicPeriod"/>
            </a:pPr>
            <a:r>
              <a:rPr lang="fr-CA" dirty="0"/>
              <a:t>Modifiez le visuel du graphique pour vous rapprocher le plus près possible du résultat.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114683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117CF3-0F34-6C47-36FA-6EEB6F4E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Version vidéo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D2C1D63-7CFA-EFC8-CB49-8238522D3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fr-CA" b="0" i="0" dirty="0">
              <a:solidFill>
                <a:srgbClr val="00A7FA"/>
              </a:solidFill>
              <a:effectLst/>
              <a:latin typeface="Arial" panose="020B0604020202020204" pitchFamily="34" charset="0"/>
              <a:hlinkClick r:id="rId3"/>
            </a:endParaRPr>
          </a:p>
          <a:p>
            <a:r>
              <a:rPr lang="fr-CA" b="0" i="0" dirty="0">
                <a:solidFill>
                  <a:srgbClr val="00A7FA"/>
                </a:solidFill>
                <a:effectLst/>
                <a:latin typeface="Arial" panose="020B0604020202020204" pitchFamily="34" charset="0"/>
                <a:hlinkClick r:id="rId3"/>
              </a:rPr>
              <a:t>Lien vers la playlist</a:t>
            </a:r>
            <a:r>
              <a:rPr lang="fr-CA" b="0" i="0" dirty="0">
                <a:solidFill>
                  <a:srgbClr val="00A7FA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r>
              <a:rPr lang="fr-CA" dirty="0">
                <a:solidFill>
                  <a:srgbClr val="00A7FA"/>
                </a:solidFill>
                <a:latin typeface="Arial" panose="020B0604020202020204" pitchFamily="34" charset="0"/>
              </a:rPr>
              <a:t>Présenté par </a:t>
            </a:r>
            <a:r>
              <a:rPr lang="fr-CA" b="0" i="0" dirty="0">
                <a:solidFill>
                  <a:srgbClr val="00A7FA"/>
                </a:solidFill>
                <a:effectLst/>
                <a:latin typeface="Arial" panose="020B0604020202020204" pitchFamily="34" charset="0"/>
              </a:rPr>
              <a:t>James Hoffman</a:t>
            </a:r>
            <a:endParaRPr lang="fr-CA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0F8313-A173-3DF5-577C-C334303E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15</a:t>
            </a:fld>
            <a:endParaRPr lang="fr-CA" dirty="0"/>
          </a:p>
        </p:txBody>
      </p:sp>
      <p:pic>
        <p:nvPicPr>
          <p:cNvPr id="6" name="Média en ligne 5" title="Microsoft Excel: Mise en page et saisie de données">
            <a:hlinkClick r:id="" action="ppaction://media"/>
            <a:extLst>
              <a:ext uri="{FF2B5EF4-FFF2-40B4-BE49-F238E27FC236}">
                <a16:creationId xmlns:a16="http://schemas.microsoft.com/office/drawing/2014/main" id="{BA464C08-6841-8B93-F1A2-969DDDDD2273}"/>
              </a:ext>
            </a:extLst>
          </p:cNvPr>
          <p:cNvPicPr>
            <a:picLocks noGrp="1" noRot="1" noChangeAspect="1"/>
          </p:cNvPicPr>
          <p:nvPr>
            <p:ph idx="4294967295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8370888" y="1349375"/>
            <a:ext cx="3821112" cy="286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0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5A8910-7476-91D7-276B-CA27520A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Excel toujours plus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B22A6C38-5470-EAD0-3560-2786FFF0F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Évolue avec les versions et les années…</a:t>
            </a:r>
          </a:p>
          <a:p>
            <a:endParaRPr lang="fr-CA" dirty="0"/>
          </a:p>
          <a:p>
            <a:r>
              <a:rPr lang="fr-CA" dirty="0"/>
              <a:t>Google </a:t>
            </a:r>
            <a:r>
              <a:rPr lang="fr-CA" dirty="0">
                <a:sym typeface="Wingdings" panose="05000000000000000000" pitchFamily="2" charset="2"/>
              </a:rPr>
              <a:t>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 err="1">
                <a:sym typeface="Wingdings" panose="05000000000000000000" pitchFamily="2" charset="2"/>
              </a:rPr>
              <a:t>Copilot</a:t>
            </a:r>
            <a:r>
              <a:rPr lang="fr-CA" dirty="0">
                <a:sym typeface="Wingdings" panose="05000000000000000000" pitchFamily="2" charset="2"/>
              </a:rPr>
              <a:t>, </a:t>
            </a:r>
            <a:r>
              <a:rPr lang="fr-CA" dirty="0" err="1">
                <a:sym typeface="Wingdings" panose="05000000000000000000" pitchFamily="2" charset="2"/>
              </a:rPr>
              <a:t>ChatGPT</a:t>
            </a:r>
            <a:r>
              <a:rPr lang="fr-CA" dirty="0">
                <a:sym typeface="Wingdings" panose="05000000000000000000" pitchFamily="2" charset="2"/>
              </a:rPr>
              <a:t>, autre!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Power BI très populaire et semblable aux fonctionnalités d’Excel</a:t>
            </a:r>
            <a:endParaRPr lang="fr-CA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F18703-18BD-1639-3F8C-14B72990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02431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3746B-9013-402A-A920-25E88DE0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7DC40E2-B830-782E-0823-3C4E3C876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Macros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D9DBFD8-4006-9C01-9C9B-81507F24B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17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245839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3E06A0-4782-4333-B899-75D6CB37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C’est quoi une Macro?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FB14458-D2C1-3349-ED46-A0813114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18</a:t>
            </a:fld>
            <a:endParaRPr lang="fr-C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6A546F2-054B-20B2-C054-7255E2EB2D50}"/>
              </a:ext>
            </a:extLst>
          </p:cNvPr>
          <p:cNvSpPr txBox="1"/>
          <p:nvPr/>
        </p:nvSpPr>
        <p:spPr>
          <a:xfrm>
            <a:off x="267419" y="1409252"/>
            <a:ext cx="115337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fr-CA" sz="2000" b="1" dirty="0">
                <a:latin typeface="Arial" panose="020B0604020202020204" pitchFamily="34" charset="0"/>
                <a:cs typeface="Arial" panose="020B0604020202020204" pitchFamily="34" charset="0"/>
              </a:rPr>
              <a:t>macro</a:t>
            </a:r>
            <a: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  <a:t> est une suite d’instructions qui permet </a:t>
            </a:r>
            <a:r>
              <a:rPr lang="fr-CA" sz="2000" b="1" dirty="0">
                <a:latin typeface="Arial" panose="020B0604020202020204" pitchFamily="34" charset="0"/>
                <a:cs typeface="Arial" panose="020B0604020202020204" pitchFamily="34" charset="0"/>
              </a:rPr>
              <a:t>d’automatiser des tâches répétitives</a:t>
            </a:r>
            <a: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  <a:t> dans Excel.</a:t>
            </a:r>
            <a:b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  <a:t>Au lieu de refaire les mêmes actions manuellement (comme copier des données, créer des onglets ou formater un tableau), on peut écrire ou enregistrer une macro qui le fera automatiquement.</a:t>
            </a:r>
          </a:p>
          <a:p>
            <a:endParaRPr lang="fr-C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C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CA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sz="2000" b="1" dirty="0">
                <a:latin typeface="Arial" panose="020B0604020202020204" pitchFamily="34" charset="0"/>
                <a:cs typeface="Arial" panose="020B0604020202020204" pitchFamily="34" charset="0"/>
              </a:rPr>
              <a:t>Exemples d’automatisation possibles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  <a:t>Créer une feuille pour chaque employé à partir d’une liste.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  <a:t>Mettre en forme automatiquement un rapport.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  <a:t>Supprimer toutes les lignes vides d’un tableau.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  <a:t>Générer tous les nombres binaires de 00000 à 11111.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2000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  <a:p>
            <a:endParaRPr lang="fr-C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267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CA83007-7204-6E62-F423-39B087F6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19</a:t>
            </a:fld>
            <a:endParaRPr lang="fr-C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00874D-846B-483D-E94E-1F8AFD511B70}"/>
              </a:ext>
            </a:extLst>
          </p:cNvPr>
          <p:cNvSpPr txBox="1"/>
          <p:nvPr/>
        </p:nvSpPr>
        <p:spPr>
          <a:xfrm>
            <a:off x="267419" y="1501637"/>
            <a:ext cx="62587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a) Écrire ou modifier une macro (code VBA)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Ouvrir l’éditeur VBA 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Alt + F11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ou via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Onglet Développeur → Visual Basic</a:t>
            </a:r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Dans le menu :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Insertion → Module</a:t>
            </a:r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Écrire (ou coller) du code VBA dans le module.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Fermer l’éditeur et exécuter la macro :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Onglet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Développeur → Macros → Exécuter</a:t>
            </a:r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C57630A5-A26C-E53B-D8DE-A56D166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19" y="293298"/>
            <a:ext cx="11683789" cy="879894"/>
          </a:xfrm>
        </p:spPr>
        <p:txBody>
          <a:bodyPr>
            <a:normAutofit fontScale="90000"/>
          </a:bodyPr>
          <a:lstStyle/>
          <a:p>
            <a:r>
              <a:rPr lang="fr-CA" dirty="0"/>
              <a:t>Macro avec code VBA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8A82D60-14C2-7700-117D-F46068D50AD9}"/>
              </a:ext>
            </a:extLst>
          </p:cNvPr>
          <p:cNvSpPr txBox="1"/>
          <p:nvPr/>
        </p:nvSpPr>
        <p:spPr>
          <a:xfrm>
            <a:off x="516367" y="5737959"/>
            <a:ext cx="10794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Le but du cours n’étant pas d’apprendre un nouveau langage informatique, nous utiliserons un outil d’IA générative pour obtenir le code qui convient. On doit se pratiquer à bien demander et à tester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1B6976B-BC1F-9A02-ADCC-280612AB164F}"/>
              </a:ext>
            </a:extLst>
          </p:cNvPr>
          <p:cNvSpPr txBox="1"/>
          <p:nvPr/>
        </p:nvSpPr>
        <p:spPr>
          <a:xfrm>
            <a:off x="6777318" y="1386620"/>
            <a:ext cx="5303520" cy="3416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Activer l’onglet Développeur</a:t>
            </a:r>
          </a:p>
          <a:p>
            <a:r>
              <a:rPr lang="fr-CA" i="1" dirty="0">
                <a:latin typeface="Arial" panose="020B0604020202020204" pitchFamily="34" charset="0"/>
                <a:cs typeface="Arial" panose="020B0604020202020204" pitchFamily="34" charset="0"/>
              </a:rPr>
              <a:t>(à faire une seule fois)</a:t>
            </a:r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Ouvrir Excel.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Cliquer sur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Fichier → Options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Dans le menu à gauche, choisir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Personnaliser le ruban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Dans la colonne de droite,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cocher la case "Développeur"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Cliquer sur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OK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Il y aura maintenant un nouvel onglet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“Développeur”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 en haut du ruban.</a:t>
            </a: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158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B30B94-2B71-A35C-F794-D4F232C1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B3D0A67-89DF-7F86-DE63-9B47AFFB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20</a:t>
            </a:fld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D1DC820-C315-6A57-A1D1-45B0B382E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81" y="220091"/>
            <a:ext cx="6683319" cy="312447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F2B203D-76F3-3AB3-0C2F-20EE298ED869}"/>
              </a:ext>
            </a:extLst>
          </p:cNvPr>
          <p:cNvSpPr txBox="1"/>
          <p:nvPr/>
        </p:nvSpPr>
        <p:spPr>
          <a:xfrm>
            <a:off x="398033" y="1656678"/>
            <a:ext cx="49592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Faire la copie des onglets « grille » et « liste » dans un nouveau classeur Excel.</a:t>
            </a: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On doit recopier une grille de correction en 18 exemplaires pour les 18 étudiants de la classe.</a:t>
            </a: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Comment s’y prendre? </a:t>
            </a: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Demandons à </a:t>
            </a:r>
            <a:r>
              <a:rPr lang="fr-CA" dirty="0" err="1"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. Il est très important d’être clair et précis dans la demande. Pour éviter de corriger le code par la suite, donnez le nom de vos onglets et de vos cellules à sélectionner. </a:t>
            </a:r>
          </a:p>
        </p:txBody>
      </p:sp>
    </p:spTree>
    <p:extLst>
      <p:ext uri="{BB962C8B-B14F-4D97-AF65-F5344CB8AC3E}">
        <p14:creationId xmlns:p14="http://schemas.microsoft.com/office/powerpoint/2010/main" val="1283637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EF7796-9B6D-BC59-CEDA-CDDE7B91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Macro enregistrée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07AC2E6-299F-A888-8823-C3796221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21</a:t>
            </a:fld>
            <a:endParaRPr lang="fr-C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48ED0D1-69C6-883A-21BD-7F5EB828AB43}"/>
              </a:ext>
            </a:extLst>
          </p:cNvPr>
          <p:cNvSpPr txBox="1"/>
          <p:nvPr/>
        </p:nvSpPr>
        <p:spPr>
          <a:xfrm>
            <a:off x="430306" y="1764254"/>
            <a:ext cx="111987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b) Enregistrer une macro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Ouvrir Excel.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Aller dans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Onglet Développeur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 (ou l’activer via Fichier &gt; Options &gt; Personnaliser le ruban &gt; cocher "Développeur").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Cliquer sur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Enregistrer une macro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Donner un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nom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 à la macro (pas d’espace, ex. : mise_en_forme).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Faire les actions à automatiser (sélection, mise en forme, etc.).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Cliquer sur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Arrêter l’enregistrement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Résultat : Excel a enregistré le comportement et créé du </a:t>
            </a:r>
            <a:r>
              <a:rPr lang="fr-CA" b="1" dirty="0">
                <a:latin typeface="Arial" panose="020B0604020202020204" pitchFamily="34" charset="0"/>
                <a:cs typeface="Arial" panose="020B0604020202020204" pitchFamily="34" charset="0"/>
              </a:rPr>
              <a:t>code VBA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 en arrière-plan.</a:t>
            </a: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Attention: les macros sont enregistrées avec des cellules absolues et non dynamiques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6139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2C5F80-2778-C7A2-3435-BE7682DB1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8515070-F9E8-F1DC-6FD5-EB366DF1B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22</a:t>
            </a:fld>
            <a:endParaRPr lang="fr-C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140B384-A554-C8B4-5A05-6172878DDB6A}"/>
              </a:ext>
            </a:extLst>
          </p:cNvPr>
          <p:cNvSpPr txBox="1"/>
          <p:nvPr/>
        </p:nvSpPr>
        <p:spPr>
          <a:xfrm>
            <a:off x="441064" y="1688951"/>
            <a:ext cx="111428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En premier lieu, faire 2 copies de l’onglet tableau2 dans le même classeur </a:t>
            </a:r>
            <a:r>
              <a:rPr lang="fr-CA" dirty="0" err="1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Avec l’une des copies:</a:t>
            </a: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Enregistrer une macro qui met en forme un tableau de données avec les particularités suivantes:</a:t>
            </a: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Tableau « vert clair, style de tableau clair 21 »</a:t>
            </a:r>
          </a:p>
          <a:p>
            <a:pPr marL="285750" indent="-285750">
              <a:buFontTx/>
              <a:buChar char="-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Somme des colonnes à fin. </a:t>
            </a:r>
          </a:p>
          <a:p>
            <a:pPr marL="285750" indent="-285750">
              <a:buFontTx/>
              <a:buChar char="-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Toutes les cases en police </a:t>
            </a:r>
            <a:r>
              <a:rPr lang="fr-CA" dirty="0" err="1">
                <a:latin typeface="Arial" panose="020B0604020202020204" pitchFamily="34" charset="0"/>
                <a:cs typeface="Arial" panose="020B0604020202020204" pitchFamily="34" charset="0"/>
              </a:rPr>
              <a:t>calibri</a:t>
            </a: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 taille 12</a:t>
            </a:r>
          </a:p>
          <a:p>
            <a:pPr marL="285750" indent="-285750">
              <a:buFontTx/>
              <a:buChar char="-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Les nombres centrés, le texte aligné à gauche</a:t>
            </a:r>
          </a:p>
          <a:p>
            <a:pPr marL="285750" indent="-285750">
              <a:buFontTx/>
              <a:buChar char="-"/>
            </a:pPr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Avec l’autre copie, testez le résultat en activant la macro. </a:t>
            </a:r>
          </a:p>
          <a:p>
            <a:pPr marL="285750" indent="-285750">
              <a:buFontTx/>
              <a:buChar char="-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S’il y a un bogue ou un problème, trouvez comment le régler</a:t>
            </a: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Aller plus loin:</a:t>
            </a:r>
          </a:p>
          <a:p>
            <a:pPr marL="285750" indent="-285750">
              <a:buFontTx/>
              <a:buChar char="-"/>
            </a:pPr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Trouvez aussi comment faire en sorte que la sélection du tableau s’ajuste à des tableaux de plus grande taille (plus de lignes)</a:t>
            </a:r>
          </a:p>
        </p:txBody>
      </p:sp>
    </p:spTree>
    <p:extLst>
      <p:ext uri="{BB962C8B-B14F-4D97-AF65-F5344CB8AC3E}">
        <p14:creationId xmlns:p14="http://schemas.microsoft.com/office/powerpoint/2010/main" val="4042677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BDA776-86C1-6955-B6C1-AE7B51011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1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DEDD7ED-B131-91A7-C230-753BA999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23</a:t>
            </a:fld>
            <a:endParaRPr lang="fr-C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744ED5-461E-E3EB-7B2E-4729E78C15DE}"/>
              </a:ext>
            </a:extLst>
          </p:cNvPr>
          <p:cNvSpPr txBox="1"/>
          <p:nvPr/>
        </p:nvSpPr>
        <p:spPr>
          <a:xfrm>
            <a:off x="430823" y="2611120"/>
            <a:ext cx="7071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À l’aide d’une macro, trouver comment afficher les nombres binaires comme ceci:</a:t>
            </a:r>
          </a:p>
          <a:p>
            <a:pPr marL="342900" indent="-342900">
              <a:buAutoNum type="arabicPeriod"/>
            </a:pPr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4DC3E95-EF82-9E2F-B423-E044B7376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004" y="572664"/>
            <a:ext cx="1737511" cy="237764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D164EBE-CDC2-206C-46B3-4EDB4D095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073" y="4079101"/>
            <a:ext cx="1638442" cy="160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60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AFD43C-BB31-C5FB-8B24-58959FAA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Exercice 2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B227EBF-4A55-1D45-8538-5B760555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24</a:t>
            </a:fld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5312D32-F3EB-CBBF-B406-E6D7EE8C4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670" y="1480592"/>
            <a:ext cx="7148179" cy="525825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8540B02-6F65-A5BD-20FC-AADF91E67425}"/>
              </a:ext>
            </a:extLst>
          </p:cNvPr>
          <p:cNvSpPr txBox="1"/>
          <p:nvPr/>
        </p:nvSpPr>
        <p:spPr>
          <a:xfrm>
            <a:off x="267419" y="1757680"/>
            <a:ext cx="45789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Faire une macro qui reproduit un calendrier</a:t>
            </a: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Ajoutez-y des détails de votre choix!</a:t>
            </a: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Autre exercice:</a:t>
            </a:r>
          </a:p>
          <a:p>
            <a:endParaRPr lang="fr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CA" dirty="0">
                <a:latin typeface="Arial" panose="020B0604020202020204" pitchFamily="34" charset="0"/>
                <a:cs typeface="Arial" panose="020B0604020202020204" pitchFamily="34" charset="0"/>
              </a:rPr>
              <a:t>Pensez à une idée de traitement à automatiser avec Excel! Amusez-vous à demander à une IA et à corriger le tir s’il y a lieu.</a:t>
            </a:r>
          </a:p>
        </p:txBody>
      </p:sp>
    </p:spTree>
    <p:extLst>
      <p:ext uri="{BB962C8B-B14F-4D97-AF65-F5344CB8AC3E}">
        <p14:creationId xmlns:p14="http://schemas.microsoft.com/office/powerpoint/2010/main" val="98543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58B4253-D72E-A661-A84C-627E14B5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Formatif Excel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B6DB52-99E4-BCD7-D566-49F0B3723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A" dirty="0"/>
              <a:t>Disponible sur </a:t>
            </a:r>
            <a:r>
              <a:rPr lang="fr-CA" dirty="0" err="1"/>
              <a:t>github</a:t>
            </a:r>
            <a:r>
              <a:rPr lang="fr-CA" dirty="0"/>
              <a:t> …</a:t>
            </a:r>
          </a:p>
          <a:p>
            <a:r>
              <a:rPr lang="fr-CA" dirty="0"/>
              <a:t>Temps de travail…</a:t>
            </a:r>
          </a:p>
          <a:p>
            <a:r>
              <a:rPr lang="fr-CA" dirty="0"/>
              <a:t>Fin de la matière à l’examen sur les outils de bureautique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4B9A682-BC0C-D3B5-5E0D-2A31D024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7095-F52B-4C1F-8A8E-94270EA9AD40}" type="slidenum">
              <a:rPr lang="fr-CA" smtClean="0"/>
              <a:t>25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78998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CegepShawi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CegepShawi" id="{681698C4-D972-47AC-B91B-B8209838E98A}" vid="{F795193A-F54A-40AC-AB31-66E3D1CFB888}"/>
    </a:ext>
  </a:extLst>
</a:theme>
</file>

<file path=ppt/theme/theme2.xml><?xml version="1.0" encoding="utf-8"?>
<a:theme xmlns:a="http://schemas.openxmlformats.org/drawingml/2006/main" name="1_ThemeCegepShawi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Shawi">
      <a:majorFont>
        <a:latin typeface="Rockwell Condensed"/>
        <a:ea typeface=""/>
        <a:cs typeface=""/>
      </a:majorFont>
      <a:minorFont>
        <a:latin typeface="Arial"/>
        <a:ea typeface=""/>
        <a:cs typeface="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CegepShawi" id="{F74622F3-9AD0-49AA-B502-F9822DC9578A}" vid="{7793C87E-65AA-4A16-B4E8-4E8376329CD0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ThemeCegepShawi</Template>
  <TotalTime>4668</TotalTime>
  <Words>1463</Words>
  <Application>Microsoft Office PowerPoint</Application>
  <PresentationFormat>Grand écran</PresentationFormat>
  <Paragraphs>224</Paragraphs>
  <Slides>25</Slides>
  <Notes>2</Notes>
  <HiddenSlides>0</HiddenSlides>
  <MMClips>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25</vt:i4>
      </vt:variant>
    </vt:vector>
  </HeadingPairs>
  <TitlesOfParts>
    <vt:vector size="31" baseType="lpstr">
      <vt:lpstr>Arial</vt:lpstr>
      <vt:lpstr>Calibri</vt:lpstr>
      <vt:lpstr>Rockwell Condensed</vt:lpstr>
      <vt:lpstr>Wingdings</vt:lpstr>
      <vt:lpstr>ThemeCegepShawi</vt:lpstr>
      <vt:lpstr>1_ThemeCegepShawi</vt:lpstr>
      <vt:lpstr>Initiation à la profession</vt:lpstr>
      <vt:lpstr>Tableau</vt:lpstr>
      <vt:lpstr>Créer et mettre en forme un tableau</vt:lpstr>
      <vt:lpstr>Trier un tableau / Rechercher</vt:lpstr>
      <vt:lpstr>Exercice 6.1 : Reproduire</vt:lpstr>
      <vt:lpstr>Exercice 6.2 : Reproduire</vt:lpstr>
      <vt:lpstr>Exercice 6.3 : Reproduire</vt:lpstr>
      <vt:lpstr>Graphiques</vt:lpstr>
      <vt:lpstr>Concevoir un graphique</vt:lpstr>
      <vt:lpstr>Tableau croisé dynamique</vt:lpstr>
      <vt:lpstr>Configuration du graphique</vt:lpstr>
      <vt:lpstr>Types de graphiques</vt:lpstr>
      <vt:lpstr>Exercice 6.4 : Reproduire</vt:lpstr>
      <vt:lpstr>Exercice 6.5 : Reproduire</vt:lpstr>
      <vt:lpstr>Version vidéo</vt:lpstr>
      <vt:lpstr>Excel toujours plus</vt:lpstr>
      <vt:lpstr>Macros</vt:lpstr>
      <vt:lpstr>C’est quoi une Macro?</vt:lpstr>
      <vt:lpstr>Macro avec code VBA</vt:lpstr>
      <vt:lpstr>exemple</vt:lpstr>
      <vt:lpstr>Macro enregistrée</vt:lpstr>
      <vt:lpstr>Exemple</vt:lpstr>
      <vt:lpstr>Exercice 1</vt:lpstr>
      <vt:lpstr>Exercice 2</vt:lpstr>
      <vt:lpstr>Formatif Excel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Initiation à la profession</dc:title>
  <dc:creator>Maude-Amélie Dufresne</dc:creator>
  <cp:lastModifiedBy>Marie-Christine Bélanger</cp:lastModifiedBy>
  <cp:revision>2</cp:revision>
  <dcterms:created xsi:type="dcterms:W3CDTF">2022-09-17T18:47:24Z</dcterms:created>
  <dcterms:modified xsi:type="dcterms:W3CDTF">2026-09-30T14:07:11Z</dcterms:modified>
</cp:coreProperties>
</file>